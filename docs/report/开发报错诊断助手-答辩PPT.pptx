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870" autoAdjust="0"/>
  </p:normalViewPr>
  <p:slideViewPr>
    <p:cSldViewPr snapToGrid="0">
      <p:cViewPr varScale="1">
        <p:scale>
          <a:sx n="55" d="100"/>
          <a:sy n="55" d="100"/>
        </p:scale>
        <p:origin x="5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各位老师好，我的课程设计是**开发报错诊断助手**。这是一个使用 </a:t>
            </a:r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ArkUI</a:t>
            </a:r>
            <a:r>
              <a:rPr lang="en-US" altLang="zh-CN" dirty="0"/>
              <a:t> </a:t>
            </a:r>
            <a:r>
              <a:rPr lang="zh-CN" altLang="en-US" dirty="0"/>
              <a:t>开发的 </a:t>
            </a:r>
            <a:r>
              <a:rPr lang="en-US" altLang="zh-CN" dirty="0"/>
              <a:t>HarmonyOS </a:t>
            </a:r>
            <a:r>
              <a:rPr lang="zh-CN" altLang="en-US" dirty="0"/>
              <a:t>应用，主要将 </a:t>
            </a:r>
            <a:r>
              <a:rPr lang="en-US" altLang="zh-CN" dirty="0" err="1"/>
              <a:t>ArkTS</a:t>
            </a:r>
            <a:r>
              <a:rPr lang="zh-CN" altLang="en-US" dirty="0"/>
              <a:t>、</a:t>
            </a:r>
            <a:r>
              <a:rPr lang="en-US" altLang="zh-CN" dirty="0" err="1"/>
              <a:t>Hvigor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OHPM </a:t>
            </a:r>
            <a:r>
              <a:rPr lang="zh-CN" altLang="en-US" dirty="0"/>
              <a:t>等复杂报错转换为**可理解、可验证、可执行的排查步骤**。**转场：**下面先介绍为什么要做这个项目。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effectLst/>
              </a:rPr>
              <a:t>一次构建失败通常会输出很长的日志。初学者容易被末尾的 </a:t>
            </a:r>
            <a:r>
              <a:rPr lang="en-US" altLang="zh-CN" sz="1200" b="0" i="0" kern="1200" dirty="0">
                <a:effectLst/>
              </a:rPr>
              <a:t>BUILD FAILED</a:t>
            </a:r>
            <a:r>
              <a:rPr lang="zh-CN" altLang="en-US" sz="1200" b="0" i="0" kern="1200" dirty="0">
                <a:effectLst/>
              </a:rPr>
              <a:t> 误导，但它只是包装信息，真正根因可能是前面的类型、依赖或权限错误。本项目先寻找</a:t>
            </a:r>
            <a:r>
              <a:rPr lang="zh-CN" altLang="en-US" sz="1200" b="1" i="0" kern="1200" dirty="0">
                <a:effectLst/>
              </a:rPr>
              <a:t>最早、最具体、可以验证的错误信号</a:t>
            </a:r>
            <a:r>
              <a:rPr lang="zh-CN" altLang="en-US" sz="1200" b="0" i="0" kern="1200" dirty="0">
                <a:effectLst/>
              </a:rPr>
              <a:t>，再整理为分类、证据、原因、步骤和风险。</a:t>
            </a:r>
          </a:p>
          <a:p>
            <a:r>
              <a:rPr lang="zh-CN" altLang="en-US" sz="1200" b="1" i="0" kern="1200" dirty="0">
                <a:effectLst/>
              </a:rPr>
              <a:t>转场：</a:t>
            </a:r>
            <a:r>
              <a:rPr lang="zh-CN" altLang="en-US" sz="1200" b="0" i="0" kern="1200" dirty="0">
                <a:effectLst/>
              </a:rPr>
              <a:t>基于这个痛点，我进一步整理了项目的需求边界。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目标用户是 </a:t>
            </a:r>
            <a:r>
              <a:rPr lang="en-US" altLang="zh-CN" dirty="0"/>
              <a:t>HarmonyOS </a:t>
            </a:r>
            <a:r>
              <a:rPr lang="zh-CN" altLang="en-US" dirty="0"/>
              <a:t>学习者，输入是开发错误日志，输出是可保存、可复用的结构化报告。**</a:t>
            </a:r>
            <a:r>
              <a:rPr lang="en-US" altLang="zh-CN" dirty="0"/>
              <a:t>P0 </a:t>
            </a:r>
            <a:r>
              <a:rPr lang="zh-CN" altLang="en-US" dirty="0"/>
              <a:t>稳定基线**包括文本输入、本地诊断、报告和历史；**</a:t>
            </a:r>
            <a:r>
              <a:rPr lang="en-US" altLang="zh-CN" dirty="0"/>
              <a:t>P1 </a:t>
            </a:r>
            <a:r>
              <a:rPr lang="zh-CN" altLang="en-US" dirty="0"/>
              <a:t>增强交付**包括 </a:t>
            </a:r>
            <a:r>
              <a:rPr lang="en-US" altLang="zh-CN" dirty="0"/>
              <a:t>AI</a:t>
            </a:r>
            <a:r>
              <a:rPr lang="zh-CN" altLang="en-US" dirty="0"/>
              <a:t>、收藏和 </a:t>
            </a:r>
            <a:r>
              <a:rPr lang="en-US" altLang="zh-CN" dirty="0"/>
              <a:t>Form Kit</a:t>
            </a:r>
            <a:r>
              <a:rPr lang="zh-CN" altLang="en-US" dirty="0"/>
              <a:t>，</a:t>
            </a:r>
            <a:r>
              <a:rPr lang="en-US" altLang="zh-CN" dirty="0"/>
              <a:t>OCR</a:t>
            </a:r>
            <a:r>
              <a:rPr lang="zh-CN" altLang="en-US" dirty="0"/>
              <a:t>、按设备能力验证。系统还必须满足**离线可用、结果可解释、隐私保护和异常可恢复**。**转场：**在需求明确后，我先保证核心闭环完成，再叠加增强体验。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92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主流程是输入日志、校验匹配、生成报告、主动保存和历史复用。目前文本诊断、报告、保存、收藏和删除已经形成可演示闭环。</a:t>
            </a:r>
            <a:r>
              <a:rPr lang="en-US" altLang="zh-CN" dirty="0"/>
              <a:t>AI</a:t>
            </a:r>
            <a:r>
              <a:rPr lang="zh-CN" altLang="en-US" dirty="0"/>
              <a:t>、</a:t>
            </a:r>
            <a:r>
              <a:rPr lang="en-US" altLang="zh-CN" dirty="0"/>
              <a:t>Agent</a:t>
            </a:r>
            <a:r>
              <a:rPr lang="zh-CN" altLang="en-US" dirty="0"/>
              <a:t>、多窗等属于增强链路，失败时自动回到本地规则；</a:t>
            </a:r>
            <a:r>
              <a:rPr lang="en-US" altLang="zh-CN" dirty="0"/>
              <a:t>OCR</a:t>
            </a:r>
            <a:r>
              <a:rPr lang="zh-CN" altLang="en-US" dirty="0"/>
              <a:t>、</a:t>
            </a:r>
            <a:r>
              <a:rPr lang="en-US" altLang="zh-CN" dirty="0"/>
              <a:t>Form Kit </a:t>
            </a:r>
            <a:r>
              <a:rPr lang="zh-CN" altLang="en-US" dirty="0"/>
              <a:t>桌面运行等仍如实标记为待验证。**转场：**为了让这些功能可以独立维护和测试，系统采用了分层架构。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系统采用分层单体架构：页面只展示状态；</a:t>
            </a:r>
            <a:r>
              <a:rPr lang="en-US" altLang="zh-CN" dirty="0" err="1"/>
              <a:t>ViewModel</a:t>
            </a:r>
            <a:r>
              <a:rPr lang="en-US" altLang="zh-CN" dirty="0"/>
              <a:t> </a:t>
            </a:r>
            <a:r>
              <a:rPr lang="zh-CN" altLang="en-US" dirty="0"/>
              <a:t>编排流程；领域服务完成校验和规则诊断；</a:t>
            </a:r>
            <a:r>
              <a:rPr lang="en-US" altLang="zh-CN" dirty="0"/>
              <a:t>Repository </a:t>
            </a:r>
            <a:r>
              <a:rPr lang="zh-CN" altLang="en-US" dirty="0"/>
              <a:t>管理去重、容量与收藏策略；底层封装数据库、配置、网络和平台能力。页面不直接访问数据库和复杂规则，因此系统能够**独立测试、替换平台实现，并在增强能力失败时降级**。**转场：**下面介绍四个重点功能，首先是输入与校验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用户可以粘贴、编辑、清空日志或使用示例。系统检查空输入和十万字符上限；校验失败时保留原文并就近提示。诊断过程中按钮锁定，防止重复提交；返回修改时从会话恢复原文。页面只转发事件，校验由 </a:t>
            </a:r>
            <a:r>
              <a:rPr lang="en-US" altLang="zh-CN" dirty="0" err="1"/>
              <a:t>ViewModel</a:t>
            </a:r>
            <a:r>
              <a:rPr lang="en-US" altLang="zh-CN" dirty="0"/>
              <a:t> </a:t>
            </a:r>
            <a:r>
              <a:rPr lang="zh-CN" altLang="en-US" dirty="0"/>
              <a:t>和领域服务完成。**转场：**输入通过校验后，才会进入核心的规则诊断流程。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系统内置 </a:t>
            </a:r>
            <a:r>
              <a:rPr lang="en-US" altLang="zh-CN" dirty="0"/>
              <a:t>12 </a:t>
            </a:r>
            <a:r>
              <a:rPr lang="zh-CN" altLang="en-US" dirty="0"/>
              <a:t>条版本化规则，从完整日志提取关键词和正则信号，而不是只匹配最后一行。多规则命中时，先按 </a:t>
            </a:r>
            <a:r>
              <a:rPr lang="en-US" altLang="zh-CN" dirty="0"/>
              <a:t>`priority` </a:t>
            </a:r>
            <a:r>
              <a:rPr lang="zh-CN" altLang="en-US" dirty="0"/>
              <a:t>降序，再按 </a:t>
            </a:r>
            <a:r>
              <a:rPr lang="en-US" altLang="zh-CN" dirty="0"/>
              <a:t>`</a:t>
            </a:r>
            <a:r>
              <a:rPr lang="en-US" altLang="zh-CN" dirty="0" err="1"/>
              <a:t>ruleId</a:t>
            </a:r>
            <a:r>
              <a:rPr lang="en-US" altLang="zh-CN" dirty="0"/>
              <a:t>` </a:t>
            </a:r>
            <a:r>
              <a:rPr lang="zh-CN" altLang="en-US" dirty="0"/>
              <a:t>升序进行**确定性优先级排序**；这里不是优先队列。</a:t>
            </a:r>
            <a:r>
              <a:rPr lang="en-US" altLang="zh-CN" dirty="0"/>
              <a:t>App </a:t>
            </a:r>
            <a:r>
              <a:rPr lang="zh-CN" altLang="en-US" dirty="0"/>
              <a:t>本地引擎断网仍可用；轻量 </a:t>
            </a:r>
            <a:r>
              <a:rPr lang="en-US" altLang="zh-CN" dirty="0"/>
              <a:t>Node.js </a:t>
            </a:r>
            <a:r>
              <a:rPr lang="zh-CN" altLang="en-US" dirty="0"/>
              <a:t>后端按 </a:t>
            </a:r>
            <a:r>
              <a:rPr lang="en-US" altLang="zh-CN" dirty="0" err="1"/>
              <a:t>ArkTS</a:t>
            </a:r>
            <a:r>
              <a:rPr lang="zh-CN" altLang="en-US" dirty="0"/>
              <a:t>、</a:t>
            </a:r>
            <a:r>
              <a:rPr lang="en-US" altLang="zh-CN" dirty="0"/>
              <a:t>OHPM</a:t>
            </a:r>
            <a:r>
              <a:rPr lang="zh-CN" altLang="en-US" dirty="0"/>
              <a:t>、权限、</a:t>
            </a:r>
            <a:r>
              <a:rPr lang="en-US" altLang="zh-CN" dirty="0"/>
              <a:t>JSON </a:t>
            </a:r>
            <a:r>
              <a:rPr lang="zh-CN" altLang="en-US" dirty="0"/>
              <a:t>和网络信号返回分类、步骤与 </a:t>
            </a:r>
            <a:r>
              <a:rPr lang="en-US" altLang="zh-CN" dirty="0"/>
              <a:t>`</a:t>
            </a:r>
            <a:r>
              <a:rPr lang="en-US" altLang="zh-CN" dirty="0" err="1"/>
              <a:t>requestId</a:t>
            </a:r>
            <a:r>
              <a:rPr lang="en-US" altLang="zh-CN" dirty="0"/>
              <a:t>`</a:t>
            </a:r>
            <a:r>
              <a:rPr lang="zh-CN" altLang="en-US" dirty="0"/>
              <a:t>，但不是核心依赖。没有专用命中时，系统返回谨慎的通用报告。**转场：**规则匹配的结果最终会被整理成结构化诊断报告。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报告依次展示分类、证据、原因、步骤、风险和可展开原文，把错误转换为**可以逐项执行和验证的路径**。新报告通过 </a:t>
            </a:r>
            <a:r>
              <a:rPr lang="en-US" altLang="zh-CN" dirty="0"/>
              <a:t>`</a:t>
            </a:r>
            <a:r>
              <a:rPr lang="en-US" altLang="zh-CN" dirty="0" err="1"/>
              <a:t>sessionId</a:t>
            </a:r>
            <a:r>
              <a:rPr lang="en-US" altLang="zh-CN" dirty="0"/>
              <a:t>` </a:t>
            </a:r>
            <a:r>
              <a:rPr lang="zh-CN" altLang="en-US" dirty="0"/>
              <a:t>从会话读取，历史报告通过 </a:t>
            </a:r>
            <a:r>
              <a:rPr lang="en-US" altLang="zh-CN" dirty="0"/>
              <a:t>`</a:t>
            </a:r>
            <a:r>
              <a:rPr lang="en-US" altLang="zh-CN" dirty="0" err="1"/>
              <a:t>reportId</a:t>
            </a:r>
            <a:r>
              <a:rPr lang="en-US" altLang="zh-CN" dirty="0"/>
              <a:t>` </a:t>
            </a:r>
            <a:r>
              <a:rPr lang="zh-CN" altLang="en-US" dirty="0"/>
              <a:t>从数据库读取，两种来源复用同一报告页和 </a:t>
            </a:r>
            <a:r>
              <a:rPr lang="en-US" altLang="zh-CN" dirty="0" err="1"/>
              <a:t>ViewModel</a:t>
            </a:r>
            <a:r>
              <a:rPr lang="zh-CN" altLang="en-US" dirty="0"/>
              <a:t>。**转场：**报告只有被主动保存后，才会进入历史记录体系。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### </a:t>
            </a:r>
            <a:r>
              <a:rPr lang="zh-CN" altLang="en-US" dirty="0"/>
              <a:t>第 </a:t>
            </a:r>
            <a:r>
              <a:rPr lang="en-US" altLang="zh-CN" dirty="0"/>
              <a:t>9 </a:t>
            </a:r>
            <a:r>
              <a:rPr lang="zh-CN" altLang="en-US" dirty="0"/>
              <a:t>页：重点功能四</a:t>
            </a:r>
            <a:r>
              <a:rPr lang="en-US" altLang="zh-CN" dirty="0"/>
              <a:t>——</a:t>
            </a:r>
            <a:r>
              <a:rPr lang="zh-CN" altLang="en-US" dirty="0"/>
              <a:t>历史、收藏与删除（约 </a:t>
            </a:r>
            <a:r>
              <a:rPr lang="en-US" altLang="zh-CN" dirty="0"/>
              <a:t>45 </a:t>
            </a:r>
            <a:r>
              <a:rPr lang="zh-CN" altLang="en-US" dirty="0"/>
              <a:t>秒）报告由用户主动保存，</a:t>
            </a:r>
            <a:r>
              <a:rPr lang="en-US" altLang="zh-CN" dirty="0"/>
              <a:t>Repository </a:t>
            </a:r>
            <a:r>
              <a:rPr lang="zh-CN" altLang="en-US" dirty="0"/>
              <a:t>按 </a:t>
            </a:r>
            <a:r>
              <a:rPr lang="en-US" altLang="zh-CN" dirty="0"/>
              <a:t>ID </a:t>
            </a:r>
            <a:r>
              <a:rPr lang="zh-CN" altLang="en-US" dirty="0"/>
              <a:t>去重后写入 </a:t>
            </a:r>
            <a:r>
              <a:rPr lang="en-US" altLang="zh-CN" dirty="0" err="1"/>
              <a:t>relationalStore</a:t>
            </a:r>
            <a:r>
              <a:rPr lang="zh-CN" altLang="en-US" dirty="0"/>
              <a:t>。历史记录按时间倒序，最多 </a:t>
            </a:r>
            <a:r>
              <a:rPr lang="en-US" altLang="zh-CN" dirty="0"/>
              <a:t>200 </a:t>
            </a:r>
            <a:r>
              <a:rPr lang="zh-CN" altLang="en-US" dirty="0"/>
              <a:t>条，并优先淘汰最早的未收藏记录。收藏点击后立即反馈，写入失败时回滚；删除和清空需要二次确认，数据库成功后页面才移除记录。这里同时保证了**响应速度和数据一致性**。**转场：**在功能闭环之外，项目还建立了统一的页面导航和视觉语言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>
            <a:extLst>
              <a:ext uri="{FF2B5EF4-FFF2-40B4-BE49-F238E27FC236}">
                <a16:creationId xmlns:a16="http://schemas.microsoft.com/office/drawing/2014/main" id="{7A05C841-4235-4BB1-89FF-49377A7D2101}"/>
              </a:ext>
            </a:extLst>
          </p:cNvPr>
          <p:cNvSpPr>
            <a:spLocks noGrp="1"/>
          </p:cNvSpPr>
          <p:nvPr/>
        </p:nvSpPr>
        <p:spPr>
          <a:xfrm>
            <a:off x="0" y="3524250"/>
            <a:ext cx="5524500" cy="3333750"/>
          </a:xfrm>
          <a:prstGeom prst="ellipse">
            <a:avLst/>
          </a:prstGeom>
          <a:gradFill>
            <a:gsLst>
              <a:gs pos="0">
                <a:srgbClr val="7189A6">
                  <a:alpha val="38000"/>
                </a:srgbClr>
              </a:gs>
              <a:gs pos="54000">
                <a:srgbClr val="7189A6">
                  <a:alpha val="12000"/>
                </a:srgbClr>
              </a:gs>
              <a:gs pos="100000">
                <a:srgbClr val="7189A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6377DC6-49EB-4FDF-B099-CA43FAD03117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238500"/>
          </a:xfrm>
          <a:prstGeom prst="ellipse">
            <a:avLst/>
          </a:prstGeom>
          <a:gradFill>
            <a:gsLst>
              <a:gs pos="0">
                <a:srgbClr val="7F9B86">
                  <a:alpha val="38000"/>
                </a:srgbClr>
              </a:gs>
              <a:gs pos="54000">
                <a:srgbClr val="7F9B86">
                  <a:alpha val="12000"/>
                </a:srgbClr>
              </a:gs>
              <a:gs pos="100000">
                <a:srgbClr val="7F9B8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FF659-52A0-4D42-9510-9C681DCD10E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rPr>
              <a:t>移动软件开发 · 课程设计答辩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F8A702-FDF1-434A-AE8C-F42491C46EE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8102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开发报错</a:t>
            </a:r>
          </a:p>
          <a:p>
            <a:pPr algn="l">
              <a:defRPr sz="4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诊断助手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0074B4-D175-4D1F-8AB4-D996E6AAB59D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C7CE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CED6"/>
                </a:solidFill>
                <a:latin typeface="Microsoft YaHei"/>
                <a:ea typeface="Microsoft YaHei"/>
                <a:cs typeface="Microsoft YaHei"/>
              </a:rPr>
              <a:t>从复杂日志到可执行排查步骤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6643D4-E79A-41DC-BF23-AB6173540E0D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5143500" cy="1143000"/>
          </a:xfrm>
          <a:prstGeom prst="roundRect">
            <a:avLst>
              <a:gd name="adj" fmla="val 20000"/>
            </a:avLst>
          </a:prstGeom>
          <a:solidFill>
            <a:srgbClr val="000000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C215F8-FC62-4C7B-8023-4CA1C2EF6D3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143500" cy="1143000"/>
          </a:xfrm>
          <a:prstGeom prst="roundRect">
            <a:avLst>
              <a:gd name="adj" fmla="val 20000"/>
            </a:avLst>
          </a:prstGeom>
          <a:solidFill>
            <a:srgbClr val="1A1D23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6EEA2E-3DED-4FDD-8061-9128EA78FD94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HarmonyOS 报错日志诊断工具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909F53-1263-4AB4-87CC-5F254AEE4B05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  <a:r>
              <a:rPr sz="1200" b="0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en-US" sz="1200" b="0" u="sng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200" u="sng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孙博 雷雨润 </a:t>
            </a:r>
            <a:r>
              <a:rPr lang="en-US" altLang="zh-CN" sz="1200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b="0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组别：</a:t>
            </a:r>
            <a:r>
              <a:rPr lang="en-US" sz="1200" b="0" u="sng" dirty="0">
                <a:solidFill>
                  <a:srgbClr val="AEB7C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200" b="0" dirty="0">
              <a:solidFill>
                <a:srgbClr val="AEB7C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50C5BF6-4210-421B-A2A7-0ACE3D91ECCF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35000"/>
            </a:srgbClr>
          </a:solidFill>
          <a:ln w="9525">
            <a:solidFill>
              <a:srgbClr val="7189A6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8F1B7F-D8D9-48CC-A990-BAF30B2B0AD9}"/>
              </a:ext>
            </a:extLst>
          </p:cNvPr>
          <p:cNvSpPr>
            <a:spLocks noGrp="1"/>
          </p:cNvSpPr>
          <p:nvPr/>
        </p:nvSpPr>
        <p:spPr>
          <a:xfrm>
            <a:off x="762000" y="527685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ArkTS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9B1CD5D-8021-445C-B7A6-478E14FB3943}"/>
              </a:ext>
            </a:extLst>
          </p:cNvPr>
          <p:cNvSpPr>
            <a:spLocks noGrp="1"/>
          </p:cNvSpPr>
          <p:nvPr/>
        </p:nvSpPr>
        <p:spPr>
          <a:xfrm>
            <a:off x="1809750" y="527685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30000"/>
            </a:srgbClr>
          </a:solidFill>
          <a:ln w="9525">
            <a:solidFill>
              <a:srgbClr val="7F9B86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02DEF4-BBE4-4934-B87B-16D9669D82E9}"/>
              </a:ext>
            </a:extLst>
          </p:cNvPr>
          <p:cNvSpPr>
            <a:spLocks noGrp="1"/>
          </p:cNvSpPr>
          <p:nvPr/>
        </p:nvSpPr>
        <p:spPr>
          <a:xfrm>
            <a:off x="1885950" y="52768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Hvigor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AD48E9C-F797-4990-87C2-C6943BECF128}"/>
              </a:ext>
            </a:extLst>
          </p:cNvPr>
          <p:cNvSpPr>
            <a:spLocks noGrp="1"/>
          </p:cNvSpPr>
          <p:nvPr/>
        </p:nvSpPr>
        <p:spPr>
          <a:xfrm>
            <a:off x="3028950" y="527685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28000"/>
            </a:srgbClr>
          </a:solidFill>
          <a:ln w="9525">
            <a:solidFill>
              <a:srgbClr val="B06F61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FFC7C0-899C-4D24-B828-836F6338C1B2}"/>
              </a:ext>
            </a:extLst>
          </p:cNvPr>
          <p:cNvSpPr>
            <a:spLocks noGrp="1"/>
          </p:cNvSpPr>
          <p:nvPr/>
        </p:nvSpPr>
        <p:spPr>
          <a:xfrm>
            <a:off x="3105150" y="527685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OHPM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5B3BC1-287B-47A0-A8BF-C790FB785C91}"/>
              </a:ext>
            </a:extLst>
          </p:cNvPr>
          <p:cNvSpPr>
            <a:spLocks noGrp="1"/>
          </p:cNvSpPr>
          <p:nvPr/>
        </p:nvSpPr>
        <p:spPr>
          <a:xfrm>
            <a:off x="7762875" y="600075"/>
            <a:ext cx="3143250" cy="5791200"/>
          </a:xfrm>
          <a:prstGeom prst="roundRect">
            <a:avLst>
              <a:gd name="adj" fmla="val 7273"/>
            </a:avLst>
          </a:prstGeom>
          <a:solidFill>
            <a:srgbClr val="000000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DF1A2C6-4B7B-4120-A529-603E0F99170A}"/>
              </a:ext>
            </a:extLst>
          </p:cNvPr>
          <p:cNvSpPr>
            <a:spLocks noGrp="1"/>
          </p:cNvSpPr>
          <p:nvPr/>
        </p:nvSpPr>
        <p:spPr>
          <a:xfrm>
            <a:off x="7762875" y="533400"/>
            <a:ext cx="3143250" cy="5791200"/>
          </a:xfrm>
          <a:prstGeom prst="roundRect">
            <a:avLst>
              <a:gd name="adj" fmla="val 7273"/>
            </a:avLst>
          </a:prstGeom>
          <a:solidFill>
            <a:srgbClr val="1A1D23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262576-FCA7-42C6-AC04-91D680EDBEB6}"/>
              </a:ext>
            </a:extLst>
          </p:cNvPr>
          <p:cNvSpPr>
            <a:spLocks noGrp="1"/>
          </p:cNvSpPr>
          <p:nvPr/>
        </p:nvSpPr>
        <p:spPr>
          <a:xfrm>
            <a:off x="685800" y="63055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7F8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995"/>
                </a:solidFill>
                <a:latin typeface="Microsoft YaHei"/>
                <a:ea typeface="Microsoft YaHei"/>
                <a:cs typeface="Microsoft YaHei"/>
              </a:rPr>
              <a:t>2025—2026 学年第二学期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476055-9CB7-4DC6-7603-91783B0127B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-16"/>
          <a:stretch>
            <a:fillRect/>
          </a:stretch>
        </p:blipFill>
        <p:spPr>
          <a:xfrm>
            <a:off x="8115287" y="748962"/>
            <a:ext cx="2439223" cy="536007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0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435D6EA2-CC1F-4059-918B-668718F2352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787AE-6B34-45BD-9DC0-4654A0C0FE1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长日志真正缺少的是“根因顺序”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C628AE-3BBE-4AD1-91A6-934F48BBD233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600C5B1-EE51-4558-97BC-66F2DD023ED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857750" cy="4095750"/>
          </a:xfrm>
          <a:prstGeom prst="roundRect">
            <a:avLst>
              <a:gd name="adj" fmla="val 5581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2D01DDE-E593-4CD7-BD08-08D6EF6B0ECB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4857750" cy="409575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B06F6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681894-140A-4FD4-8FB7-EA7BA38CB4DA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原始报错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8B2EE8D-878F-41B9-8B98-9CFE05A17D4A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4324350" cy="2286000"/>
          </a:xfrm>
          <a:prstGeom prst="roundRect">
            <a:avLst>
              <a:gd name="adj" fmla="val 6667"/>
            </a:avLst>
          </a:prstGeom>
          <a:solidFill>
            <a:srgbClr val="171A1F"/>
          </a:solidFill>
          <a:ln w="9525">
            <a:solidFill>
              <a:srgbClr val="2B3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C6873E-D363-4B19-99F5-CB6561FD322D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38481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hvigor ERROR: task failed</a:t>
            </a:r>
          </a:p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&gt; CompileArkTS</a:t>
            </a:r>
          </a:p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Type 'string' is not assignable</a:t>
            </a:r>
          </a:p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to type 'number'</a:t>
            </a:r>
          </a:p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...</a:t>
            </a:r>
          </a:p>
          <a:p>
            <a:pPr algn="l">
              <a:defRPr sz="1350" b="0">
                <a:solidFill>
                  <a:srgbClr val="D9DEE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9DEE5"/>
                </a:solidFill>
                <a:latin typeface="Consolas"/>
                <a:ea typeface="Consolas"/>
                <a:cs typeface="Consolas"/>
              </a:rPr>
              <a:t>BUILD FAILED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7DAFF19-2BD8-490D-A541-51184D6D6543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6000"/>
            </a:srgbClr>
          </a:solidFill>
          <a:ln w="9525">
            <a:solidFill>
              <a:srgbClr val="B06F61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6A47D6-D249-473D-9628-6C624B839F1D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包装信息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A1E8FC-1CDD-4B69-B6D1-228A94BB990A}"/>
              </a:ext>
            </a:extLst>
          </p:cNvPr>
          <p:cNvSpPr>
            <a:spLocks noGrp="1"/>
          </p:cNvSpPr>
          <p:nvPr/>
        </p:nvSpPr>
        <p:spPr>
          <a:xfrm>
            <a:off x="2057400" y="47625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6000"/>
            </a:srgbClr>
          </a:solidFill>
          <a:ln w="9525">
            <a:solidFill>
              <a:srgbClr val="B06F61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E8C519-F877-4F58-905A-0A40828A43E3}"/>
              </a:ext>
            </a:extLst>
          </p:cNvPr>
          <p:cNvSpPr>
            <a:spLocks noGrp="1"/>
          </p:cNvSpPr>
          <p:nvPr/>
        </p:nvSpPr>
        <p:spPr>
          <a:xfrm>
            <a:off x="2133600" y="47625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根因被淹没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3A9D71-1D7C-49A6-A451-9F104EEDEEB4}"/>
              </a:ext>
            </a:extLst>
          </p:cNvPr>
          <p:cNvSpPr>
            <a:spLocks noGrp="1"/>
          </p:cNvSpPr>
          <p:nvPr/>
        </p:nvSpPr>
        <p:spPr>
          <a:xfrm>
            <a:off x="5676900" y="3381375"/>
            <a:ext cx="685800" cy="38100"/>
          </a:xfrm>
          <a:prstGeom prst="rect">
            <a:avLst/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228A43A2-EDDD-4219-9F25-845F72F4EB2F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323850" cy="400050"/>
          </a:xfrm>
          <a:prstGeom prst="chevron">
            <a:avLst/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5D0110C-6E02-4BEB-BAAD-0714A554236B}"/>
              </a:ext>
            </a:extLst>
          </p:cNvPr>
          <p:cNvSpPr>
            <a:spLocks noGrp="1"/>
          </p:cNvSpPr>
          <p:nvPr/>
        </p:nvSpPr>
        <p:spPr>
          <a:xfrm>
            <a:off x="6705600" y="1571625"/>
            <a:ext cx="4876800" cy="4095750"/>
          </a:xfrm>
          <a:prstGeom prst="roundRect">
            <a:avLst>
              <a:gd name="adj" fmla="val 5581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05402D1-BAE1-4A99-A9E5-4CF8B8C230D7}"/>
              </a:ext>
            </a:extLst>
          </p:cNvPr>
          <p:cNvSpPr>
            <a:spLocks noGrp="1"/>
          </p:cNvSpPr>
          <p:nvPr/>
        </p:nvSpPr>
        <p:spPr>
          <a:xfrm>
            <a:off x="6705600" y="1504950"/>
            <a:ext cx="4876800" cy="409575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DFD225-7AF9-4C38-BACE-6FC4A850E51B}"/>
              </a:ext>
            </a:extLst>
          </p:cNvPr>
          <p:cNvSpPr>
            <a:spLocks noGrp="1"/>
          </p:cNvSpPr>
          <p:nvPr/>
        </p:nvSpPr>
        <p:spPr>
          <a:xfrm>
            <a:off x="6991350" y="17526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结构化诊断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EAEB476-F951-4AC6-AD9D-D8DCB1975C9E}"/>
              </a:ext>
            </a:extLst>
          </p:cNvPr>
          <p:cNvSpPr>
            <a:spLocks noGrp="1"/>
          </p:cNvSpPr>
          <p:nvPr/>
        </p:nvSpPr>
        <p:spPr>
          <a:xfrm>
            <a:off x="6991350" y="22098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024FA9-5756-4E76-BE97-703B66D0DFE4}"/>
              </a:ext>
            </a:extLst>
          </p:cNvPr>
          <p:cNvSpPr>
            <a:spLocks noGrp="1"/>
          </p:cNvSpPr>
          <p:nvPr/>
        </p:nvSpPr>
        <p:spPr>
          <a:xfrm>
            <a:off x="7067550" y="22098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10994F-3CBF-4B01-A847-4FB2EFB0FE6D}"/>
              </a:ext>
            </a:extLst>
          </p:cNvPr>
          <p:cNvSpPr>
            <a:spLocks noGrp="1"/>
          </p:cNvSpPr>
          <p:nvPr/>
        </p:nvSpPr>
        <p:spPr>
          <a:xfrm>
            <a:off x="7658100" y="22479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7BE8E-BB0D-4816-AEA1-A32E74619A9D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ArkTS 类型错误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5166D3A-11CB-4D44-9860-ED67F6C700ED}"/>
              </a:ext>
            </a:extLst>
          </p:cNvPr>
          <p:cNvSpPr>
            <a:spLocks noGrp="1"/>
          </p:cNvSpPr>
          <p:nvPr/>
        </p:nvSpPr>
        <p:spPr>
          <a:xfrm>
            <a:off x="6991350" y="27622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4AF61E-95A3-44B0-B2A6-F5A94E7FAF80}"/>
              </a:ext>
            </a:extLst>
          </p:cNvPr>
          <p:cNvSpPr>
            <a:spLocks noGrp="1"/>
          </p:cNvSpPr>
          <p:nvPr/>
        </p:nvSpPr>
        <p:spPr>
          <a:xfrm>
            <a:off x="7067550" y="27622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F1DD15-80C3-4077-B869-8B0C28A548C8}"/>
              </a:ext>
            </a:extLst>
          </p:cNvPr>
          <p:cNvSpPr>
            <a:spLocks noGrp="1"/>
          </p:cNvSpPr>
          <p:nvPr/>
        </p:nvSpPr>
        <p:spPr>
          <a:xfrm>
            <a:off x="7658100" y="2800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19C1C5-8BE2-4FE2-88F2-4A57F60ECF68}"/>
              </a:ext>
            </a:extLst>
          </p:cNvPr>
          <p:cNvSpPr>
            <a:spLocks noGrp="1"/>
          </p:cNvSpPr>
          <p:nvPr/>
        </p:nvSpPr>
        <p:spPr>
          <a:xfrm>
            <a:off x="8401050" y="28003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string → number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6EA372C-6797-46A0-9B09-F2B462DBC474}"/>
              </a:ext>
            </a:extLst>
          </p:cNvPr>
          <p:cNvSpPr>
            <a:spLocks noGrp="1"/>
          </p:cNvSpPr>
          <p:nvPr/>
        </p:nvSpPr>
        <p:spPr>
          <a:xfrm>
            <a:off x="6991350" y="33147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D95EC4-038B-427A-B166-A7CC8DFF40F6}"/>
              </a:ext>
            </a:extLst>
          </p:cNvPr>
          <p:cNvSpPr>
            <a:spLocks noGrp="1"/>
          </p:cNvSpPr>
          <p:nvPr/>
        </p:nvSpPr>
        <p:spPr>
          <a:xfrm>
            <a:off x="7067550" y="33147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93EE50-1D8D-4723-B1FF-D4128F12E19C}"/>
              </a:ext>
            </a:extLst>
          </p:cNvPr>
          <p:cNvSpPr>
            <a:spLocks noGrp="1"/>
          </p:cNvSpPr>
          <p:nvPr/>
        </p:nvSpPr>
        <p:spPr>
          <a:xfrm>
            <a:off x="7658100" y="3352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432D45-CF2C-458B-8561-67A1001C0F78}"/>
              </a:ext>
            </a:extLst>
          </p:cNvPr>
          <p:cNvSpPr>
            <a:spLocks noGrp="1"/>
          </p:cNvSpPr>
          <p:nvPr/>
        </p:nvSpPr>
        <p:spPr>
          <a:xfrm>
            <a:off x="8401050" y="33528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类型约束不一致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179A640-A023-40AE-A98B-0BE854B166F4}"/>
              </a:ext>
            </a:extLst>
          </p:cNvPr>
          <p:cNvSpPr>
            <a:spLocks noGrp="1"/>
          </p:cNvSpPr>
          <p:nvPr/>
        </p:nvSpPr>
        <p:spPr>
          <a:xfrm>
            <a:off x="6991350" y="38671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F4D176-2369-4536-8FBD-D2DD142D2FDA}"/>
              </a:ext>
            </a:extLst>
          </p:cNvPr>
          <p:cNvSpPr>
            <a:spLocks noGrp="1"/>
          </p:cNvSpPr>
          <p:nvPr/>
        </p:nvSpPr>
        <p:spPr>
          <a:xfrm>
            <a:off x="7067550" y="38671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8BD3D0-A7BA-4E1E-9DA0-87C058E5B5AD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3B40B6-874C-4A11-9D61-30D79737374B}"/>
              </a:ext>
            </a:extLst>
          </p:cNvPr>
          <p:cNvSpPr>
            <a:spLocks noGrp="1"/>
          </p:cNvSpPr>
          <p:nvPr/>
        </p:nvSpPr>
        <p:spPr>
          <a:xfrm>
            <a:off x="8401050" y="3905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定位声明并最小修改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D7E7359-EB72-44DB-BF76-5CD690ECE682}"/>
              </a:ext>
            </a:extLst>
          </p:cNvPr>
          <p:cNvSpPr>
            <a:spLocks noGrp="1"/>
          </p:cNvSpPr>
          <p:nvPr/>
        </p:nvSpPr>
        <p:spPr>
          <a:xfrm>
            <a:off x="6991350" y="44196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CD0AA9-E2E7-4BB7-AE85-2CD5F0C83FD9}"/>
              </a:ext>
            </a:extLst>
          </p:cNvPr>
          <p:cNvSpPr>
            <a:spLocks noGrp="1"/>
          </p:cNvSpPr>
          <p:nvPr/>
        </p:nvSpPr>
        <p:spPr>
          <a:xfrm>
            <a:off x="7067550" y="44196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D1D812-EB00-402B-BD6F-596E947CA150}"/>
              </a:ext>
            </a:extLst>
          </p:cNvPr>
          <p:cNvSpPr>
            <a:spLocks noGrp="1"/>
          </p:cNvSpPr>
          <p:nvPr/>
        </p:nvSpPr>
        <p:spPr>
          <a:xfrm>
            <a:off x="7658100" y="44577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249A77-38ED-440B-AF7A-1044F0D85C77}"/>
              </a:ext>
            </a:extLst>
          </p:cNvPr>
          <p:cNvSpPr>
            <a:spLocks noGrp="1"/>
          </p:cNvSpPr>
          <p:nvPr/>
        </p:nvSpPr>
        <p:spPr>
          <a:xfrm>
            <a:off x="8401050" y="44577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不要关闭严格类型检查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4440C03-E420-4162-B69A-2B585017163F}"/>
              </a:ext>
            </a:extLst>
          </p:cNvPr>
          <p:cNvSpPr>
            <a:spLocks noGrp="1"/>
          </p:cNvSpPr>
          <p:nvPr/>
        </p:nvSpPr>
        <p:spPr>
          <a:xfrm>
            <a:off x="6705600" y="58674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少看包装信息，先找可验证根因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F2AA61B-CE3A-4532-8E13-A8F9EE99B5D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4F17D72-7F87-44FC-B0F1-EC4A32E05618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64545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E457117D-C0CA-4FDB-BAB5-E7231D2870B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420D85-D79F-4452-B716-720CB70C24E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需求分析：从开发痛点提炼功能边界</a:t>
            </a:r>
            <a:endParaRPr sz="2850" b="1" dirty="0">
              <a:solidFill>
                <a:srgbClr val="171A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37ED8E-EDF8-417F-81DC-36617928B4C1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DF762E-89DC-4928-B7D9-9A901DD8530F}"/>
              </a:ext>
            </a:extLst>
          </p:cNvPr>
          <p:cNvSpPr>
            <a:spLocks noGrp="1"/>
          </p:cNvSpPr>
          <p:nvPr/>
        </p:nvSpPr>
        <p:spPr>
          <a:xfrm>
            <a:off x="203835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8FD7E0-0645-4B9A-8D96-7F608780801C}"/>
              </a:ext>
            </a:extLst>
          </p:cNvPr>
          <p:cNvSpPr>
            <a:spLocks noGrp="1"/>
          </p:cNvSpPr>
          <p:nvPr/>
        </p:nvSpPr>
        <p:spPr>
          <a:xfrm>
            <a:off x="407670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656258-FF79-443A-B23F-65473DDF8AB9}"/>
              </a:ext>
            </a:extLst>
          </p:cNvPr>
          <p:cNvSpPr>
            <a:spLocks noGrp="1"/>
          </p:cNvSpPr>
          <p:nvPr/>
        </p:nvSpPr>
        <p:spPr>
          <a:xfrm>
            <a:off x="611505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930A24-E23A-43DF-8A22-FC43DC1B5AD5}"/>
              </a:ext>
            </a:extLst>
          </p:cNvPr>
          <p:cNvSpPr>
            <a:spLocks noGrp="1"/>
          </p:cNvSpPr>
          <p:nvPr/>
        </p:nvSpPr>
        <p:spPr>
          <a:xfrm>
            <a:off x="815340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1A2059E-0916-4295-B10B-02717F23064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4F831E-5F5A-4352-8219-2D199A4614A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E99E4D-7556-432C-BAEE-FB0B322AD826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鸿蒙学习者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77CFEF1-89D8-473A-BF29-101A72663A20}"/>
              </a:ext>
            </a:extLst>
          </p:cNvPr>
          <p:cNvSpPr>
            <a:spLocks noGrp="1"/>
          </p:cNvSpPr>
          <p:nvPr/>
        </p:nvSpPr>
        <p:spPr>
          <a:xfrm>
            <a:off x="272415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7799F1-8C17-43AC-8E4B-C72150507028}"/>
              </a:ext>
            </a:extLst>
          </p:cNvPr>
          <p:cNvSpPr>
            <a:spLocks noGrp="1"/>
          </p:cNvSpPr>
          <p:nvPr/>
        </p:nvSpPr>
        <p:spPr>
          <a:xfrm>
            <a:off x="272415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9FDF55-F12D-4B9F-899F-DA34E283FE00}"/>
              </a:ext>
            </a:extLst>
          </p:cNvPr>
          <p:cNvSpPr>
            <a:spLocks noGrp="1"/>
          </p:cNvSpPr>
          <p:nvPr/>
        </p:nvSpPr>
        <p:spPr>
          <a:xfrm>
            <a:off x="280035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开发错误日志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6FFA49F-AD6B-4859-A4D1-5ABF6F41BC40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149E66-685B-4472-B7A6-7F084193C65B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4B7D01-0F00-4111-909F-6ADE1B2630A0}"/>
              </a:ext>
            </a:extLst>
          </p:cNvPr>
          <p:cNvSpPr>
            <a:spLocks noGrp="1"/>
          </p:cNvSpPr>
          <p:nvPr/>
        </p:nvSpPr>
        <p:spPr>
          <a:xfrm>
            <a:off x="48387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本地规则诊断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C2927A4-EE1C-4241-905E-889FF29F3E53}"/>
              </a:ext>
            </a:extLst>
          </p:cNvPr>
          <p:cNvSpPr>
            <a:spLocks noGrp="1"/>
          </p:cNvSpPr>
          <p:nvPr/>
        </p:nvSpPr>
        <p:spPr>
          <a:xfrm>
            <a:off x="680085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389DAB-71B0-4F38-BC72-4FD200642A9E}"/>
              </a:ext>
            </a:extLst>
          </p:cNvPr>
          <p:cNvSpPr>
            <a:spLocks noGrp="1"/>
          </p:cNvSpPr>
          <p:nvPr/>
        </p:nvSpPr>
        <p:spPr>
          <a:xfrm>
            <a:off x="680085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64D79A-2246-4C5A-9C23-4E6AC3ECB6BF}"/>
              </a:ext>
            </a:extLst>
          </p:cNvPr>
          <p:cNvSpPr>
            <a:spLocks noGrp="1"/>
          </p:cNvSpPr>
          <p:nvPr/>
        </p:nvSpPr>
        <p:spPr>
          <a:xfrm>
            <a:off x="687705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结构化报告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D17DA43-C2FE-4F9A-8C0E-6189B36EDFEB}"/>
              </a:ext>
            </a:extLst>
          </p:cNvPr>
          <p:cNvSpPr>
            <a:spLocks noGrp="1"/>
          </p:cNvSpPr>
          <p:nvPr/>
        </p:nvSpPr>
        <p:spPr>
          <a:xfrm>
            <a:off x="8839200" y="1809750"/>
            <a:ext cx="1352550" cy="914400"/>
          </a:xfrm>
          <a:prstGeom prst="ellipse">
            <a:avLst/>
          </a:prstGeom>
          <a:solidFill>
            <a:srgbClr val="7F9B86">
              <a:alpha val="18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CFCDE7-FB60-45BA-8804-405F0A9FB1DA}"/>
              </a:ext>
            </a:extLst>
          </p:cNvPr>
          <p:cNvSpPr>
            <a:spLocks noGrp="1"/>
          </p:cNvSpPr>
          <p:nvPr/>
        </p:nvSpPr>
        <p:spPr>
          <a:xfrm>
            <a:off x="88392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26EAFC-607F-41EB-AAAD-5D96AB51EE25}"/>
              </a:ext>
            </a:extLst>
          </p:cNvPr>
          <p:cNvSpPr>
            <a:spLocks noGrp="1"/>
          </p:cNvSpPr>
          <p:nvPr/>
        </p:nvSpPr>
        <p:spPr>
          <a:xfrm>
            <a:off x="89154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历史复用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419DCFC-7CE9-4DB6-AF24-B2F5F267AD30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EEF05D7-DCBB-475C-AB84-594427B2E6A4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6ADB2F2-8DB8-4878-AE03-BC22FB0285FD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76200" cy="1485900"/>
          </a:xfrm>
          <a:prstGeom prst="roundRect">
            <a:avLst>
              <a:gd name="adj" fmla="val 50000"/>
            </a:avLst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7C0897-141E-464B-BBC0-DEF27472E37E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P0 核心需求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04108A-1ECF-4F0C-BBF3-764C6D2A42DF}"/>
              </a:ext>
            </a:extLst>
          </p:cNvPr>
          <p:cNvSpPr>
            <a:spLocks noGrp="1"/>
          </p:cNvSpPr>
          <p:nvPr/>
        </p:nvSpPr>
        <p:spPr>
          <a:xfrm>
            <a:off x="1104900" y="3848100"/>
            <a:ext cx="4305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输入 ArkTS、Hvigor、OHPM 日志，获得分类、证据、原因、步骤，并保存为可复用记录。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2D6B017-522D-42CB-AE03-795DF134FE2D}"/>
              </a:ext>
            </a:extLst>
          </p:cNvPr>
          <p:cNvSpPr>
            <a:spLocks noGrp="1"/>
          </p:cNvSpPr>
          <p:nvPr/>
        </p:nvSpPr>
        <p:spPr>
          <a:xfrm>
            <a:off x="5867400" y="3286125"/>
            <a:ext cx="340995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110572-0364-4732-BD21-4D2BA7D6376B}"/>
              </a:ext>
            </a:extLst>
          </p:cNvPr>
          <p:cNvSpPr>
            <a:spLocks noGrp="1"/>
          </p:cNvSpPr>
          <p:nvPr/>
        </p:nvSpPr>
        <p:spPr>
          <a:xfrm>
            <a:off x="5867400" y="3219450"/>
            <a:ext cx="340995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5E2B475-01CC-4C53-9BE3-FBF01ACABD3B}"/>
              </a:ext>
            </a:extLst>
          </p:cNvPr>
          <p:cNvSpPr>
            <a:spLocks noGrp="1"/>
          </p:cNvSpPr>
          <p:nvPr/>
        </p:nvSpPr>
        <p:spPr>
          <a:xfrm>
            <a:off x="6057900" y="3429000"/>
            <a:ext cx="76200" cy="148590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FC05468-1273-4651-B70D-B870DDAFE2BB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P1 增强需求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3605F7-40DF-4CC4-B7E6-4AFF536B39E4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762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AI、收藏和</a:t>
            </a:r>
            <a:r>
              <a:rPr sz="1275" b="0" dirty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 Form Kit </a:t>
            </a:r>
            <a:r>
              <a:rPr sz="1275" b="0" dirty="0" err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提升效率；OCR与</a:t>
            </a:r>
            <a:r>
              <a:rPr sz="1275" b="0" dirty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 Data Augmentation </a:t>
            </a:r>
            <a:r>
              <a:rPr sz="1275" b="0" dirty="0" err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按设备能力逐步验证</a:t>
            </a:r>
            <a:r>
              <a:rPr sz="1275" b="0" dirty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E61D4DD-EC96-4ADF-B694-50CB93A3B5AD}"/>
              </a:ext>
            </a:extLst>
          </p:cNvPr>
          <p:cNvSpPr>
            <a:spLocks noGrp="1"/>
          </p:cNvSpPr>
          <p:nvPr/>
        </p:nvSpPr>
        <p:spPr>
          <a:xfrm>
            <a:off x="9505950" y="3286125"/>
            <a:ext cx="207645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9683F7B-A7B2-4911-8F57-FE9737F8D790}"/>
              </a:ext>
            </a:extLst>
          </p:cNvPr>
          <p:cNvSpPr>
            <a:spLocks noGrp="1"/>
          </p:cNvSpPr>
          <p:nvPr/>
        </p:nvSpPr>
        <p:spPr>
          <a:xfrm>
            <a:off x="9505950" y="3219450"/>
            <a:ext cx="207645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A7B2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FA627D-0FD7-4FC3-848D-3F0AF986BE2C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96600" cy="552450"/>
          </a:xfrm>
          <a:prstGeom prst="roundRect">
            <a:avLst>
              <a:gd name="adj" fmla="val 27586"/>
            </a:avLst>
          </a:prstGeom>
          <a:solidFill>
            <a:srgbClr val="B06F61">
              <a:alpha val="10000"/>
            </a:srgbClr>
          </a:solidFill>
          <a:ln w="9525">
            <a:solidFill>
              <a:srgbClr val="B06F61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A33C8F-B977-4C74-B523-CC192A36D9B3}"/>
              </a:ext>
            </a:extLst>
          </p:cNvPr>
          <p:cNvSpPr>
            <a:spLocks noGrp="1"/>
          </p:cNvSpPr>
          <p:nvPr/>
        </p:nvSpPr>
        <p:spPr>
          <a:xfrm>
            <a:off x="914400" y="5572125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非功能约束：离线可用 · 结果可解释 · 隐私保护 · 异常可恢复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F3859A-3F7F-4EA6-B2A4-57F2508F298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700078-BBB4-4988-9BC0-D4532876E296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3 /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3438144"/>
            <a:ext cx="16002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71A1F"/>
                </a:solidFill>
                <a:latin typeface="HarmonyOS Sans SC"/>
              </a:rPr>
              <a:t>需求来源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3886200"/>
            <a:ext cx="160020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5D6673"/>
                </a:solidFill>
                <a:latin typeface="HarmonyOS Sans SC"/>
              </a:rPr>
              <a:t>课程项目要求
真实报错样例
现有实现边界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E457117D-C0CA-4FDB-BAB5-E7231D2870B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420D85-D79F-4452-B716-720CB70C24E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先完成离线</a:t>
            </a:r>
            <a:r>
              <a:rPr lang="zh-CN" altLang="en-US" sz="2850" b="1" dirty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功能</a:t>
            </a:r>
            <a:r>
              <a:rPr sz="2850" b="1" dirty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850" b="1" dirty="0" err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再叠加增强体验</a:t>
            </a:r>
            <a:endParaRPr sz="2850" b="1" dirty="0">
              <a:solidFill>
                <a:srgbClr val="171A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37ED8E-EDF8-417F-81DC-36617928B4C1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DF762E-89DC-4928-B7D9-9A901DD8530F}"/>
              </a:ext>
            </a:extLst>
          </p:cNvPr>
          <p:cNvSpPr>
            <a:spLocks noGrp="1"/>
          </p:cNvSpPr>
          <p:nvPr/>
        </p:nvSpPr>
        <p:spPr>
          <a:xfrm>
            <a:off x="203835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8FD7E0-0645-4B9A-8D96-7F608780801C}"/>
              </a:ext>
            </a:extLst>
          </p:cNvPr>
          <p:cNvSpPr>
            <a:spLocks noGrp="1"/>
          </p:cNvSpPr>
          <p:nvPr/>
        </p:nvSpPr>
        <p:spPr>
          <a:xfrm>
            <a:off x="407670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656258-FF79-443A-B23F-65473DDF8AB9}"/>
              </a:ext>
            </a:extLst>
          </p:cNvPr>
          <p:cNvSpPr>
            <a:spLocks noGrp="1"/>
          </p:cNvSpPr>
          <p:nvPr/>
        </p:nvSpPr>
        <p:spPr>
          <a:xfrm>
            <a:off x="611505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930A24-E23A-43DF-8A22-FC43DC1B5AD5}"/>
              </a:ext>
            </a:extLst>
          </p:cNvPr>
          <p:cNvSpPr>
            <a:spLocks noGrp="1"/>
          </p:cNvSpPr>
          <p:nvPr/>
        </p:nvSpPr>
        <p:spPr>
          <a:xfrm>
            <a:off x="8153400" y="2266950"/>
            <a:ext cx="6858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1A2059E-0916-4295-B10B-02717F23064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4F831E-5F5A-4352-8219-2D199A4614A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E99E4D-7556-432C-BAEE-FB0B322AD826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输入日志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77CFEF1-89D8-473A-BF29-101A72663A20}"/>
              </a:ext>
            </a:extLst>
          </p:cNvPr>
          <p:cNvSpPr>
            <a:spLocks noGrp="1"/>
          </p:cNvSpPr>
          <p:nvPr/>
        </p:nvSpPr>
        <p:spPr>
          <a:xfrm>
            <a:off x="272415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7799F1-8C17-43AC-8E4B-C72150507028}"/>
              </a:ext>
            </a:extLst>
          </p:cNvPr>
          <p:cNvSpPr>
            <a:spLocks noGrp="1"/>
          </p:cNvSpPr>
          <p:nvPr/>
        </p:nvSpPr>
        <p:spPr>
          <a:xfrm>
            <a:off x="272415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9FDF55-F12D-4B9F-899F-DA34E283FE00}"/>
              </a:ext>
            </a:extLst>
          </p:cNvPr>
          <p:cNvSpPr>
            <a:spLocks noGrp="1"/>
          </p:cNvSpPr>
          <p:nvPr/>
        </p:nvSpPr>
        <p:spPr>
          <a:xfrm>
            <a:off x="280035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校验与匹配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6FFA49F-AD6B-4859-A4D1-5ABF6F41BC40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149E66-685B-4472-B7A6-7F084193C65B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4B7D01-0F00-4111-909F-6ADE1B2630A0}"/>
              </a:ext>
            </a:extLst>
          </p:cNvPr>
          <p:cNvSpPr>
            <a:spLocks noGrp="1"/>
          </p:cNvSpPr>
          <p:nvPr/>
        </p:nvSpPr>
        <p:spPr>
          <a:xfrm>
            <a:off x="48387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生成报告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C2927A4-EE1C-4241-905E-889FF29F3E53}"/>
              </a:ext>
            </a:extLst>
          </p:cNvPr>
          <p:cNvSpPr>
            <a:spLocks noGrp="1"/>
          </p:cNvSpPr>
          <p:nvPr/>
        </p:nvSpPr>
        <p:spPr>
          <a:xfrm>
            <a:off x="6800850" y="1809750"/>
            <a:ext cx="1352550" cy="91440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389DAB-71B0-4F38-BC72-4FD200642A9E}"/>
              </a:ext>
            </a:extLst>
          </p:cNvPr>
          <p:cNvSpPr>
            <a:spLocks noGrp="1"/>
          </p:cNvSpPr>
          <p:nvPr/>
        </p:nvSpPr>
        <p:spPr>
          <a:xfrm>
            <a:off x="680085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64D79A-2246-4C5A-9C23-4E6AC3ECB6BF}"/>
              </a:ext>
            </a:extLst>
          </p:cNvPr>
          <p:cNvSpPr>
            <a:spLocks noGrp="1"/>
          </p:cNvSpPr>
          <p:nvPr/>
        </p:nvSpPr>
        <p:spPr>
          <a:xfrm>
            <a:off x="687705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主动保存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D17DA43-C2FE-4F9A-8C0E-6189B36EDFEB}"/>
              </a:ext>
            </a:extLst>
          </p:cNvPr>
          <p:cNvSpPr>
            <a:spLocks noGrp="1"/>
          </p:cNvSpPr>
          <p:nvPr/>
        </p:nvSpPr>
        <p:spPr>
          <a:xfrm>
            <a:off x="8839200" y="1809750"/>
            <a:ext cx="1352550" cy="914400"/>
          </a:xfrm>
          <a:prstGeom prst="ellipse">
            <a:avLst/>
          </a:prstGeom>
          <a:solidFill>
            <a:srgbClr val="7F9B86">
              <a:alpha val="18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CFCDE7-FB60-45BA-8804-405F0A9FB1DA}"/>
              </a:ext>
            </a:extLst>
          </p:cNvPr>
          <p:cNvSpPr>
            <a:spLocks noGrp="1"/>
          </p:cNvSpPr>
          <p:nvPr/>
        </p:nvSpPr>
        <p:spPr>
          <a:xfrm>
            <a:off x="8839200" y="19431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26EAFC-607F-41EB-AAAD-5D96AB51EE25}"/>
              </a:ext>
            </a:extLst>
          </p:cNvPr>
          <p:cNvSpPr>
            <a:spLocks noGrp="1"/>
          </p:cNvSpPr>
          <p:nvPr/>
        </p:nvSpPr>
        <p:spPr>
          <a:xfrm>
            <a:off x="8915400" y="22098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历史复用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419DCFC-7CE9-4DB6-AF24-B2F5F267AD30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EEF05D7-DCBB-475C-AB84-594427B2E6A4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6ADB2F2-8DB8-4878-AE03-BC22FB0285FD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76200" cy="1485900"/>
          </a:xfrm>
          <a:prstGeom prst="roundRect">
            <a:avLst>
              <a:gd name="adj" fmla="val 50000"/>
            </a:avLst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7C0897-141E-464B-BBC0-DEF27472E37E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P0 稳定基线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04108A-1ECF-4F0C-BBF3-764C6D2A42DF}"/>
              </a:ext>
            </a:extLst>
          </p:cNvPr>
          <p:cNvSpPr>
            <a:spLocks noGrp="1"/>
          </p:cNvSpPr>
          <p:nvPr/>
        </p:nvSpPr>
        <p:spPr>
          <a:xfrm>
            <a:off x="1104900" y="3848100"/>
            <a:ext cx="4305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文本诊断、结构化报告、保存、历史、收藏、删除、设置与本地工具均已形成可演示闭环。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2D6B017-522D-42CB-AE03-795DF134FE2D}"/>
              </a:ext>
            </a:extLst>
          </p:cNvPr>
          <p:cNvSpPr>
            <a:spLocks noGrp="1"/>
          </p:cNvSpPr>
          <p:nvPr/>
        </p:nvSpPr>
        <p:spPr>
          <a:xfrm>
            <a:off x="5867400" y="3286125"/>
            <a:ext cx="340995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110572-0364-4732-BD21-4D2BA7D6376B}"/>
              </a:ext>
            </a:extLst>
          </p:cNvPr>
          <p:cNvSpPr>
            <a:spLocks noGrp="1"/>
          </p:cNvSpPr>
          <p:nvPr/>
        </p:nvSpPr>
        <p:spPr>
          <a:xfrm>
            <a:off x="5867400" y="3219450"/>
            <a:ext cx="340995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5E2B475-01CC-4C53-9BE3-FBF01ACABD3B}"/>
              </a:ext>
            </a:extLst>
          </p:cNvPr>
          <p:cNvSpPr>
            <a:spLocks noGrp="1"/>
          </p:cNvSpPr>
          <p:nvPr/>
        </p:nvSpPr>
        <p:spPr>
          <a:xfrm>
            <a:off x="6057900" y="3429000"/>
            <a:ext cx="76200" cy="148590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FC05468-1273-4651-B70D-B870DDAFE2BB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增强链路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3605F7-40DF-4CC4-B7E6-4AFF536B39E4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762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AI、Agent、Skill、多窗和传感器提升体验；失败时自动回到本地规则流程。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E61D4DD-EC96-4ADF-B694-50CB93A3B5AD}"/>
              </a:ext>
            </a:extLst>
          </p:cNvPr>
          <p:cNvSpPr>
            <a:spLocks noGrp="1"/>
          </p:cNvSpPr>
          <p:nvPr/>
        </p:nvSpPr>
        <p:spPr>
          <a:xfrm>
            <a:off x="9505950" y="3286125"/>
            <a:ext cx="2076450" cy="1905000"/>
          </a:xfrm>
          <a:prstGeom prst="roundRect">
            <a:avLst>
              <a:gd name="adj" fmla="val 12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9683F7B-A7B2-4911-8F57-FE9737F8D790}"/>
              </a:ext>
            </a:extLst>
          </p:cNvPr>
          <p:cNvSpPr>
            <a:spLocks noGrp="1"/>
          </p:cNvSpPr>
          <p:nvPr/>
        </p:nvSpPr>
        <p:spPr>
          <a:xfrm>
            <a:off x="9505950" y="3219450"/>
            <a:ext cx="2076450" cy="1905000"/>
          </a:xfrm>
          <a:prstGeom prst="roundRect">
            <a:avLst>
              <a:gd name="adj" fmla="val 12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A7B2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rcRect t="22611" b="22611"/>
          <a:stretch>
            <a:fillRect/>
          </a:stretch>
        </p:blipFill>
        <p:spPr>
          <a:xfrm>
            <a:off x="9677400" y="3371850"/>
            <a:ext cx="1733550" cy="1600200"/>
          </a:xfrm>
          <a:prstGeom prst="roundRect">
            <a:avLst>
              <a:gd name="adj" fmla="val 14286"/>
            </a:avLst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2D1A79FA-9E0C-4D0D-999F-0FCB8A1C5189}"/>
              </a:ext>
            </a:extLst>
          </p:cNvPr>
          <p:cNvSpPr>
            <a:spLocks noGrp="1"/>
          </p:cNvSpPr>
          <p:nvPr/>
        </p:nvSpPr>
        <p:spPr>
          <a:xfrm>
            <a:off x="10953750" y="3371850"/>
            <a:ext cx="457200" cy="1600200"/>
          </a:xfrm>
          <a:prstGeom prst="rect">
            <a:avLst/>
          </a:prstGeom>
          <a:solidFill>
            <a:srgbClr val="F8F9F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7F3859A-3F7F-4EA6-B2A4-57F2508F298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700078-BBB4-4988-9BC0-D4532876E296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61327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A122EB3E-0037-4F74-809D-F2FBF2B071E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A0620B-8A4A-4F52-886A-8EBD8E9A2F4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分层让页面、规则与数据各守边界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BD11DA-5049-4D0D-9778-C54222F0B97B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42831-9C4D-48B9-89E3-BD08492E77E2}"/>
              </a:ext>
            </a:extLst>
          </p:cNvPr>
          <p:cNvSpPr>
            <a:spLocks noGrp="1"/>
          </p:cNvSpPr>
          <p:nvPr/>
        </p:nvSpPr>
        <p:spPr>
          <a:xfrm>
            <a:off x="2857500" y="2143125"/>
            <a:ext cx="38100" cy="161925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C034A3-A713-4F46-AE87-D7A77555EDD7}"/>
              </a:ext>
            </a:extLst>
          </p:cNvPr>
          <p:cNvSpPr>
            <a:spLocks noGrp="1"/>
          </p:cNvSpPr>
          <p:nvPr/>
        </p:nvSpPr>
        <p:spPr>
          <a:xfrm>
            <a:off x="2857500" y="2266950"/>
            <a:ext cx="68580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B8BBBE-1DCA-42C1-9394-64AA16BB6DB6}"/>
              </a:ext>
            </a:extLst>
          </p:cNvPr>
          <p:cNvSpPr>
            <a:spLocks noGrp="1"/>
          </p:cNvSpPr>
          <p:nvPr/>
        </p:nvSpPr>
        <p:spPr>
          <a:xfrm>
            <a:off x="2857500" y="2943225"/>
            <a:ext cx="38100" cy="161925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7550B3-4EC9-42A8-8A94-FA5C8742B0F0}"/>
              </a:ext>
            </a:extLst>
          </p:cNvPr>
          <p:cNvSpPr>
            <a:spLocks noGrp="1"/>
          </p:cNvSpPr>
          <p:nvPr/>
        </p:nvSpPr>
        <p:spPr>
          <a:xfrm>
            <a:off x="2857500" y="3067050"/>
            <a:ext cx="68580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C8D726-952C-4C3F-91CD-2C373C29CE05}"/>
              </a:ext>
            </a:extLst>
          </p:cNvPr>
          <p:cNvSpPr>
            <a:spLocks noGrp="1"/>
          </p:cNvSpPr>
          <p:nvPr/>
        </p:nvSpPr>
        <p:spPr>
          <a:xfrm>
            <a:off x="2857500" y="3743325"/>
            <a:ext cx="38100" cy="161925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10A61D-A10F-4D43-9993-7FAE24F475BE}"/>
              </a:ext>
            </a:extLst>
          </p:cNvPr>
          <p:cNvSpPr>
            <a:spLocks noGrp="1"/>
          </p:cNvSpPr>
          <p:nvPr/>
        </p:nvSpPr>
        <p:spPr>
          <a:xfrm>
            <a:off x="2857500" y="3867150"/>
            <a:ext cx="68580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AB59F0-2B21-402C-8F74-99E6C86BA543}"/>
              </a:ext>
            </a:extLst>
          </p:cNvPr>
          <p:cNvSpPr>
            <a:spLocks noGrp="1"/>
          </p:cNvSpPr>
          <p:nvPr/>
        </p:nvSpPr>
        <p:spPr>
          <a:xfrm>
            <a:off x="2857500" y="4543425"/>
            <a:ext cx="38100" cy="161925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02ABC9-1AEA-458D-8BC8-FCE14B5F9E99}"/>
              </a:ext>
            </a:extLst>
          </p:cNvPr>
          <p:cNvSpPr>
            <a:spLocks noGrp="1"/>
          </p:cNvSpPr>
          <p:nvPr/>
        </p:nvSpPr>
        <p:spPr>
          <a:xfrm>
            <a:off x="2857500" y="4667250"/>
            <a:ext cx="685800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DAA7E6-49D6-41E3-AEFB-23F5CFC2D22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63936CC-7508-45DC-A8A1-9479730E9EA7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A240130-43A8-4714-A7C7-D3EB8B12C9C4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2BCF95-835F-455E-BF1C-13D24098F87C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CEFAFE-DB10-4C74-BF01-0A04036C2AB9}"/>
              </a:ext>
            </a:extLst>
          </p:cNvPr>
          <p:cNvSpPr>
            <a:spLocks noGrp="1"/>
          </p:cNvSpPr>
          <p:nvPr/>
        </p:nvSpPr>
        <p:spPr>
          <a:xfrm>
            <a:off x="1562100" y="16383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页面与组件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CD45B-BCBF-40D5-959A-834732E6E728}"/>
              </a:ext>
            </a:extLst>
          </p:cNvPr>
          <p:cNvSpPr>
            <a:spLocks noGrp="1"/>
          </p:cNvSpPr>
          <p:nvPr/>
        </p:nvSpPr>
        <p:spPr>
          <a:xfrm>
            <a:off x="3886200" y="16573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展示状态 · 接收操作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F50FA65-434A-44EF-A492-74FB5917E605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12FBC5-9854-4687-BBF7-139D9F9885FF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11D5E59-D7FD-4473-BE10-13BDF5146AA2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740D40-07E9-4D73-BA6C-6990E761AEC5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420E63-071D-4B03-B129-B919AB1885CF}"/>
              </a:ext>
            </a:extLst>
          </p:cNvPr>
          <p:cNvSpPr>
            <a:spLocks noGrp="1"/>
          </p:cNvSpPr>
          <p:nvPr/>
        </p:nvSpPr>
        <p:spPr>
          <a:xfrm>
            <a:off x="1562100" y="24384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ViewModel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D8F977-7B69-4F45-A868-292305011628}"/>
              </a:ext>
            </a:extLst>
          </p:cNvPr>
          <p:cNvSpPr>
            <a:spLocks noGrp="1"/>
          </p:cNvSpPr>
          <p:nvPr/>
        </p:nvSpPr>
        <p:spPr>
          <a:xfrm>
            <a:off x="3886200" y="24574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编排诊断 · 报告 · 历史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E94B1C9-9981-478B-984A-C3E162FC9997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ADDA85-374D-41AF-A6CD-7D2F90C9C5BD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E2CF281-B87F-4873-A81D-6A7DB8830B31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3664FB-C84A-44F2-8EAE-7E05B85B6BEB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DC6A12F-AD3F-47D4-9172-C7396715D4E4}"/>
              </a:ext>
            </a:extLst>
          </p:cNvPr>
          <p:cNvSpPr>
            <a:spLocks noGrp="1"/>
          </p:cNvSpPr>
          <p:nvPr/>
        </p:nvSpPr>
        <p:spPr>
          <a:xfrm>
            <a:off x="1562100" y="3238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领域服务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5EB1F7C-D0B5-4611-AB4E-AA5909568D2F}"/>
              </a:ext>
            </a:extLst>
          </p:cNvPr>
          <p:cNvSpPr>
            <a:spLocks noGrp="1"/>
          </p:cNvSpPr>
          <p:nvPr/>
        </p:nvSpPr>
        <p:spPr>
          <a:xfrm>
            <a:off x="3886200" y="32575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校验 · 规则匹配 · 报告生成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7502DD3-2838-465C-AD6F-09A745C3E233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11215B3-7B2E-4656-8DA4-36F5AC5E94B7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A8530A7-2518-4F63-AB0B-8B5C2170E1F1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D3D52CE-9EFF-440B-8E58-8D8557EF61DB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34A06A9-DEF7-494C-BA81-A831756FDB72}"/>
              </a:ext>
            </a:extLst>
          </p:cNvPr>
          <p:cNvSpPr>
            <a:spLocks noGrp="1"/>
          </p:cNvSpPr>
          <p:nvPr/>
        </p:nvSpPr>
        <p:spPr>
          <a:xfrm>
            <a:off x="1562100" y="4038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BDE1369-F5CC-4165-A195-0E2EB6BEC96C}"/>
              </a:ext>
            </a:extLst>
          </p:cNvPr>
          <p:cNvSpPr>
            <a:spLocks noGrp="1"/>
          </p:cNvSpPr>
          <p:nvPr/>
        </p:nvSpPr>
        <p:spPr>
          <a:xfrm>
            <a:off x="3886200" y="40576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去重 · 分页 · 容量 · 收藏策略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A8AD5F6-272B-4DB6-8C3F-7CAE558F314A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273C78F-5F0D-41E0-B420-60A054F0D216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8382000" cy="628650"/>
          </a:xfrm>
          <a:prstGeom prst="roundRect">
            <a:avLst>
              <a:gd name="adj" fmla="val 3636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C1733F-CD4D-4C10-A37D-BD17B7126951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D143469-D935-438C-AF8B-A363CA238B0E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7FA65D5-44D5-4943-92B0-4FB6069BCDBE}"/>
              </a:ext>
            </a:extLst>
          </p:cNvPr>
          <p:cNvSpPr>
            <a:spLocks noGrp="1"/>
          </p:cNvSpPr>
          <p:nvPr/>
        </p:nvSpPr>
        <p:spPr>
          <a:xfrm>
            <a:off x="1562100" y="4838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Storage / Platform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D456E9C-7056-4A0F-B358-36DAC0A7017F}"/>
              </a:ext>
            </a:extLst>
          </p:cNvPr>
          <p:cNvSpPr>
            <a:spLocks noGrp="1"/>
          </p:cNvSpPr>
          <p:nvPr/>
        </p:nvSpPr>
        <p:spPr>
          <a:xfrm>
            <a:off x="3886200" y="48577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relationalStore · Preferences · rawfile · AI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1AA2A50-DBB4-43F1-AC48-3158FCC530F6}"/>
              </a:ext>
            </a:extLst>
          </p:cNvPr>
          <p:cNvSpPr>
            <a:spLocks noGrp="1"/>
          </p:cNvSpPr>
          <p:nvPr/>
        </p:nvSpPr>
        <p:spPr>
          <a:xfrm>
            <a:off x="9391650" y="1590675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013FBA7-26A8-42F8-8C6D-D6262DF7B325}"/>
              </a:ext>
            </a:extLst>
          </p:cNvPr>
          <p:cNvSpPr>
            <a:spLocks noGrp="1"/>
          </p:cNvSpPr>
          <p:nvPr/>
        </p:nvSpPr>
        <p:spPr>
          <a:xfrm>
            <a:off x="9391650" y="1524000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1F6E4E4-654E-4B16-A007-92187434766F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AE684A-58E4-4BDE-9402-D487F18E815C}"/>
              </a:ext>
            </a:extLst>
          </p:cNvPr>
          <p:cNvSpPr>
            <a:spLocks noGrp="1"/>
          </p:cNvSpPr>
          <p:nvPr/>
        </p:nvSpPr>
        <p:spPr>
          <a:xfrm>
            <a:off x="9810750" y="173355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可测试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A80745-6F5B-4D64-9E43-1006D27A38BD}"/>
              </a:ext>
            </a:extLst>
          </p:cNvPr>
          <p:cNvSpPr>
            <a:spLocks noGrp="1"/>
          </p:cNvSpPr>
          <p:nvPr/>
        </p:nvSpPr>
        <p:spPr>
          <a:xfrm>
            <a:off x="9810750" y="215265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规则与状态独立验证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08349AE-1B06-441D-B54D-C2A4211B2337}"/>
              </a:ext>
            </a:extLst>
          </p:cNvPr>
          <p:cNvSpPr>
            <a:spLocks noGrp="1"/>
          </p:cNvSpPr>
          <p:nvPr/>
        </p:nvSpPr>
        <p:spPr>
          <a:xfrm>
            <a:off x="9391650" y="2905125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5BA9768-CE63-47F2-BA03-C907E160C511}"/>
              </a:ext>
            </a:extLst>
          </p:cNvPr>
          <p:cNvSpPr>
            <a:spLocks noGrp="1"/>
          </p:cNvSpPr>
          <p:nvPr/>
        </p:nvSpPr>
        <p:spPr>
          <a:xfrm>
            <a:off x="9391650" y="2838450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E0D0781-980A-4C13-91A2-E853CF35B762}"/>
              </a:ext>
            </a:extLst>
          </p:cNvPr>
          <p:cNvSpPr>
            <a:spLocks noGrp="1"/>
          </p:cNvSpPr>
          <p:nvPr/>
        </p:nvSpPr>
        <p:spPr>
          <a:xfrm>
            <a:off x="9582150" y="304800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B230A7A-C590-4B2D-9AB0-A01EDFE911D5}"/>
              </a:ext>
            </a:extLst>
          </p:cNvPr>
          <p:cNvSpPr>
            <a:spLocks noGrp="1"/>
          </p:cNvSpPr>
          <p:nvPr/>
        </p:nvSpPr>
        <p:spPr>
          <a:xfrm>
            <a:off x="9810750" y="304800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可替换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0A5430A-329A-45AF-9ED9-35926262F088}"/>
              </a:ext>
            </a:extLst>
          </p:cNvPr>
          <p:cNvSpPr>
            <a:spLocks noGrp="1"/>
          </p:cNvSpPr>
          <p:nvPr/>
        </p:nvSpPr>
        <p:spPr>
          <a:xfrm>
            <a:off x="9810750" y="34671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平台实现可替换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4A5284C-5949-4810-A52C-60E556A376C6}"/>
              </a:ext>
            </a:extLst>
          </p:cNvPr>
          <p:cNvSpPr>
            <a:spLocks noGrp="1"/>
          </p:cNvSpPr>
          <p:nvPr/>
        </p:nvSpPr>
        <p:spPr>
          <a:xfrm>
            <a:off x="9391650" y="4219575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B805562-42CD-412A-AAEE-BA942D44D4A5}"/>
              </a:ext>
            </a:extLst>
          </p:cNvPr>
          <p:cNvSpPr>
            <a:spLocks noGrp="1"/>
          </p:cNvSpPr>
          <p:nvPr/>
        </p:nvSpPr>
        <p:spPr>
          <a:xfrm>
            <a:off x="9391650" y="4152900"/>
            <a:ext cx="2190750" cy="1028700"/>
          </a:xfrm>
          <a:prstGeom prst="roundRect">
            <a:avLst>
              <a:gd name="adj" fmla="val 22222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29391A5-FD7C-4CE9-903D-EB869FCB8419}"/>
              </a:ext>
            </a:extLst>
          </p:cNvPr>
          <p:cNvSpPr>
            <a:spLocks noGrp="1"/>
          </p:cNvSpPr>
          <p:nvPr/>
        </p:nvSpPr>
        <p:spPr>
          <a:xfrm>
            <a:off x="9582150" y="4362450"/>
            <a:ext cx="76200" cy="609600"/>
          </a:xfrm>
          <a:prstGeom prst="roundRect">
            <a:avLst>
              <a:gd name="adj" fmla="val 50000"/>
            </a:avLst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367A48D-6302-498D-95D3-F8359F530348}"/>
              </a:ext>
            </a:extLst>
          </p:cNvPr>
          <p:cNvSpPr>
            <a:spLocks noGrp="1"/>
          </p:cNvSpPr>
          <p:nvPr/>
        </p:nvSpPr>
        <p:spPr>
          <a:xfrm>
            <a:off x="9810750" y="4362450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可降级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EDDB181-DDF9-4B1D-BF0C-AF78B60C43BA}"/>
              </a:ext>
            </a:extLst>
          </p:cNvPr>
          <p:cNvSpPr>
            <a:spLocks noGrp="1"/>
          </p:cNvSpPr>
          <p:nvPr/>
        </p:nvSpPr>
        <p:spPr>
          <a:xfrm>
            <a:off x="9810750" y="478155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44"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增强失败不阻塞主流程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D7F5A92-4F23-4E7E-932C-AB8900941640}"/>
              </a:ext>
            </a:extLst>
          </p:cNvPr>
          <p:cNvSpPr>
            <a:spLocks noGrp="1"/>
          </p:cNvSpPr>
          <p:nvPr/>
        </p:nvSpPr>
        <p:spPr>
          <a:xfrm>
            <a:off x="9391650" y="5467350"/>
            <a:ext cx="2190750" cy="514350"/>
          </a:xfrm>
          <a:prstGeom prst="roundRect">
            <a:avLst>
              <a:gd name="adj" fmla="val 29630"/>
            </a:avLst>
          </a:prstGeom>
          <a:solidFill>
            <a:srgbClr val="B06F61">
              <a:alpha val="10000"/>
            </a:srgbClr>
          </a:solidFill>
          <a:ln w="9525">
            <a:solidFill>
              <a:srgbClr val="B06F6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99D5A28-3626-4D24-9F76-7E35BA5C4C15}"/>
              </a:ext>
            </a:extLst>
          </p:cNvPr>
          <p:cNvSpPr>
            <a:spLocks noGrp="1"/>
          </p:cNvSpPr>
          <p:nvPr/>
        </p:nvSpPr>
        <p:spPr>
          <a:xfrm>
            <a:off x="9563100" y="561975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统一错误 + 脱敏日志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756C376-DA28-4221-9D59-6C51C8956A1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FF75538-70DB-478F-9006-58CDCBF2EC15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114123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102CA2D0-493B-4246-90D4-4E206888F16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E63C18-1DAF-4935-8E63-5B797517688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重点功能一：输入失败可恢复，提交状态可控制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4AB1BD-B39D-40EE-85C0-8193F85DBCF5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29AEF0-6F7D-40A8-A278-38F12D69D9BD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4324350" cy="4476750"/>
          </a:xfrm>
          <a:prstGeom prst="roundRect">
            <a:avLst>
              <a:gd name="adj" fmla="val 5286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7636B6-C02B-46DE-8C05-99017678EFF1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4324350" cy="4476750"/>
          </a:xfrm>
          <a:prstGeom prst="roundRect">
            <a:avLst>
              <a:gd name="adj" fmla="val 5286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2EE366-38C3-48DD-B023-D36532C61AA5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文本诊断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6B44C7-D939-4AD4-9599-D4A876441D76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3790950" cy="2247900"/>
          </a:xfrm>
          <a:prstGeom prst="roundRect">
            <a:avLst>
              <a:gd name="adj" fmla="val 6780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9F6196-D8FD-49DC-B1B7-101377000392}"/>
              </a:ext>
            </a:extLst>
          </p:cNvPr>
          <p:cNvSpPr>
            <a:spLocks noGrp="1"/>
          </p:cNvSpPr>
          <p:nvPr/>
        </p:nvSpPr>
        <p:spPr>
          <a:xfrm>
            <a:off x="1085850" y="2438400"/>
            <a:ext cx="3333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D6673"/>
                </a:solidFill>
                <a:latin typeface="Consolas"/>
                <a:ea typeface="Consolas"/>
                <a:cs typeface="Consolas"/>
              </a:rPr>
              <a:t>ArkTS:ERROR Example.ets:12:5</a:t>
            </a:r>
          </a:p>
          <a:p>
            <a:pPr algn="l">
              <a:defRPr sz="1350" b="0">
                <a:solidFill>
                  <a:srgbClr val="5D667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D6673"/>
                </a:solidFill>
                <a:latin typeface="Consolas"/>
                <a:ea typeface="Consolas"/>
                <a:cs typeface="Consolas"/>
              </a:rPr>
              <a:t>Type 'string' is not assignable to</a:t>
            </a:r>
          </a:p>
          <a:p>
            <a:pPr algn="l">
              <a:defRPr sz="1350" b="0">
                <a:solidFill>
                  <a:srgbClr val="5D667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D6673"/>
                </a:solidFill>
                <a:latin typeface="Consolas"/>
                <a:ea typeface="Consolas"/>
                <a:cs typeface="Consolas"/>
              </a:rPr>
              <a:t>type 'number'.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8555BB9-CB96-4AF1-AE5B-5C026A014800}"/>
              </a:ext>
            </a:extLst>
          </p:cNvPr>
          <p:cNvSpPr>
            <a:spLocks noGrp="1"/>
          </p:cNvSpPr>
          <p:nvPr/>
        </p:nvSpPr>
        <p:spPr>
          <a:xfrm>
            <a:off x="1085850" y="3829050"/>
            <a:ext cx="2095500" cy="400050"/>
          </a:xfrm>
          <a:prstGeom prst="roundRect">
            <a:avLst>
              <a:gd name="adj" fmla="val 28571"/>
            </a:avLst>
          </a:prstGeom>
          <a:solidFill>
            <a:srgbClr val="B06F61">
              <a:alpha val="11000"/>
            </a:srgbClr>
          </a:solidFill>
          <a:ln w="9525">
            <a:solidFill>
              <a:srgbClr val="B06F61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AAB9E7-EAF6-4F1C-9DB2-ADDC875217F5}"/>
              </a:ext>
            </a:extLst>
          </p:cNvPr>
          <p:cNvSpPr>
            <a:spLocks noGrp="1"/>
          </p:cNvSpPr>
          <p:nvPr/>
        </p:nvSpPr>
        <p:spPr>
          <a:xfrm>
            <a:off x="1200150" y="3905250"/>
            <a:ext cx="1866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空输入 / 超长时就近提示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D2845CF-489C-43C0-BCF9-4BD6CD1D2677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3790950" cy="666750"/>
          </a:xfrm>
          <a:prstGeom prst="roundRect">
            <a:avLst>
              <a:gd name="adj" fmla="val 22857"/>
            </a:avLst>
          </a:prstGeom>
          <a:solidFill>
            <a:srgbClr val="7189A6"/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9B49A8-CDB7-4A66-A939-DE4C67DD0C7B}"/>
              </a:ext>
            </a:extLst>
          </p:cNvPr>
          <p:cNvSpPr>
            <a:spLocks noGrp="1"/>
          </p:cNvSpPr>
          <p:nvPr/>
        </p:nvSpPr>
        <p:spPr>
          <a:xfrm>
            <a:off x="1066800" y="487680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开始诊断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5D8488-A8B9-4D45-BE67-D5C70641041B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38100" cy="32385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634910-21E4-40B3-9BA4-281D8138257E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38100" cy="32385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B21585-2FD0-4FCA-8276-8E7CD2E7242D}"/>
              </a:ext>
            </a:extLst>
          </p:cNvPr>
          <p:cNvSpPr>
            <a:spLocks noGrp="1"/>
          </p:cNvSpPr>
          <p:nvPr/>
        </p:nvSpPr>
        <p:spPr>
          <a:xfrm>
            <a:off x="6572250" y="4267200"/>
            <a:ext cx="38100" cy="32385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B46D13-3DA5-4189-8413-048F0182DB7E}"/>
              </a:ext>
            </a:extLst>
          </p:cNvPr>
          <p:cNvSpPr>
            <a:spLocks noGrp="1"/>
          </p:cNvSpPr>
          <p:nvPr/>
        </p:nvSpPr>
        <p:spPr>
          <a:xfrm>
            <a:off x="5619750" y="1590675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A86952F-8577-44DE-8085-B9E0B07DC6CA}"/>
              </a:ext>
            </a:extLst>
          </p:cNvPr>
          <p:cNvSpPr>
            <a:spLocks noGrp="1"/>
          </p:cNvSpPr>
          <p:nvPr/>
        </p:nvSpPr>
        <p:spPr>
          <a:xfrm>
            <a:off x="5619750" y="1524000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E89B150-BFE1-47A7-BEF5-AD5254B57DDF}"/>
              </a:ext>
            </a:extLst>
          </p:cNvPr>
          <p:cNvSpPr>
            <a:spLocks noGrp="1"/>
          </p:cNvSpPr>
          <p:nvPr/>
        </p:nvSpPr>
        <p:spPr>
          <a:xfrm>
            <a:off x="5829300" y="1752600"/>
            <a:ext cx="5334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9E4F79-F96D-4B67-A5B4-9DDFFA518BBA}"/>
              </a:ext>
            </a:extLst>
          </p:cNvPr>
          <p:cNvSpPr>
            <a:spLocks noGrp="1"/>
          </p:cNvSpPr>
          <p:nvPr/>
        </p:nvSpPr>
        <p:spPr>
          <a:xfrm>
            <a:off x="5905500" y="17526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7CF2D8-A1E9-4B2A-B4A0-667A50FF40CA}"/>
              </a:ext>
            </a:extLst>
          </p:cNvPr>
          <p:cNvSpPr>
            <a:spLocks noGrp="1"/>
          </p:cNvSpPr>
          <p:nvPr/>
        </p:nvSpPr>
        <p:spPr>
          <a:xfrm>
            <a:off x="6591300" y="16954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C8A989-B258-4840-A6AD-FCE250093E51}"/>
              </a:ext>
            </a:extLst>
          </p:cNvPr>
          <p:cNvSpPr>
            <a:spLocks noGrp="1"/>
          </p:cNvSpPr>
          <p:nvPr/>
        </p:nvSpPr>
        <p:spPr>
          <a:xfrm>
            <a:off x="7677150" y="171450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粘贴、编辑、清空、示例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1A737A3-5ED3-4BD3-B77B-77C1B646B002}"/>
              </a:ext>
            </a:extLst>
          </p:cNvPr>
          <p:cNvSpPr>
            <a:spLocks noGrp="1"/>
          </p:cNvSpPr>
          <p:nvPr/>
        </p:nvSpPr>
        <p:spPr>
          <a:xfrm>
            <a:off x="5619750" y="2600325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AC463E-CD43-4F60-9DB2-A17EFB0DC717}"/>
              </a:ext>
            </a:extLst>
          </p:cNvPr>
          <p:cNvSpPr>
            <a:spLocks noGrp="1"/>
          </p:cNvSpPr>
          <p:nvPr/>
        </p:nvSpPr>
        <p:spPr>
          <a:xfrm>
            <a:off x="5619750" y="2533650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B06F6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9C25ACA-E2F4-4509-9879-3B57A8A97D9A}"/>
              </a:ext>
            </a:extLst>
          </p:cNvPr>
          <p:cNvSpPr>
            <a:spLocks noGrp="1"/>
          </p:cNvSpPr>
          <p:nvPr/>
        </p:nvSpPr>
        <p:spPr>
          <a:xfrm>
            <a:off x="5829300" y="2762250"/>
            <a:ext cx="5334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DB588F-AACC-410F-974F-12B6EEC1EA24}"/>
              </a:ext>
            </a:extLst>
          </p:cNvPr>
          <p:cNvSpPr>
            <a:spLocks noGrp="1"/>
          </p:cNvSpPr>
          <p:nvPr/>
        </p:nvSpPr>
        <p:spPr>
          <a:xfrm>
            <a:off x="5905500" y="27622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6401BE-A3E1-4489-A3A8-C8D0BEBB2B35}"/>
              </a:ext>
            </a:extLst>
          </p:cNvPr>
          <p:cNvSpPr>
            <a:spLocks noGrp="1"/>
          </p:cNvSpPr>
          <p:nvPr/>
        </p:nvSpPr>
        <p:spPr>
          <a:xfrm>
            <a:off x="6591300" y="27051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0FD33D-2189-41A8-BA5F-EA1636FCF732}"/>
              </a:ext>
            </a:extLst>
          </p:cNvPr>
          <p:cNvSpPr>
            <a:spLocks noGrp="1"/>
          </p:cNvSpPr>
          <p:nvPr/>
        </p:nvSpPr>
        <p:spPr>
          <a:xfrm>
            <a:off x="7677150" y="272415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trim + 空值 + 100000 上限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AE1E383-DAB8-43D7-A073-6CA9D1FD981F}"/>
              </a:ext>
            </a:extLst>
          </p:cNvPr>
          <p:cNvSpPr>
            <a:spLocks noGrp="1"/>
          </p:cNvSpPr>
          <p:nvPr/>
        </p:nvSpPr>
        <p:spPr>
          <a:xfrm>
            <a:off x="5619750" y="3609975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8BDD5BD-C779-4A87-8D37-CD580541612A}"/>
              </a:ext>
            </a:extLst>
          </p:cNvPr>
          <p:cNvSpPr>
            <a:spLocks noGrp="1"/>
          </p:cNvSpPr>
          <p:nvPr/>
        </p:nvSpPr>
        <p:spPr>
          <a:xfrm>
            <a:off x="5619750" y="3543300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6FBF9F1-9426-4508-9585-D4856CB27F87}"/>
              </a:ext>
            </a:extLst>
          </p:cNvPr>
          <p:cNvSpPr>
            <a:spLocks noGrp="1"/>
          </p:cNvSpPr>
          <p:nvPr/>
        </p:nvSpPr>
        <p:spPr>
          <a:xfrm>
            <a:off x="5829300" y="3771900"/>
            <a:ext cx="5334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6468AF-D64D-4AD4-A2BC-AF4DE8E1ADE4}"/>
              </a:ext>
            </a:extLst>
          </p:cNvPr>
          <p:cNvSpPr>
            <a:spLocks noGrp="1"/>
          </p:cNvSpPr>
          <p:nvPr/>
        </p:nvSpPr>
        <p:spPr>
          <a:xfrm>
            <a:off x="5905500" y="377190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217D0A-280E-4856-9F87-FFC99B919357}"/>
              </a:ext>
            </a:extLst>
          </p:cNvPr>
          <p:cNvSpPr>
            <a:spLocks noGrp="1"/>
          </p:cNvSpPr>
          <p:nvPr/>
        </p:nvSpPr>
        <p:spPr>
          <a:xfrm>
            <a:off x="6591300" y="37147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BE65CD-0ECA-44D9-99D4-FBB481A9FDD9}"/>
              </a:ext>
            </a:extLst>
          </p:cNvPr>
          <p:cNvSpPr>
            <a:spLocks noGrp="1"/>
          </p:cNvSpPr>
          <p:nvPr/>
        </p:nvSpPr>
        <p:spPr>
          <a:xfrm>
            <a:off x="7677150" y="373380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保留原文与返回恢复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BB9A2C2-14FE-4C3F-9614-AF83B211DFB7}"/>
              </a:ext>
            </a:extLst>
          </p:cNvPr>
          <p:cNvSpPr>
            <a:spLocks noGrp="1"/>
          </p:cNvSpPr>
          <p:nvPr/>
        </p:nvSpPr>
        <p:spPr>
          <a:xfrm>
            <a:off x="5619750" y="4619625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8A5E6A9-EF51-4F9C-848A-C9F6A0776E9E}"/>
              </a:ext>
            </a:extLst>
          </p:cNvPr>
          <p:cNvSpPr>
            <a:spLocks noGrp="1"/>
          </p:cNvSpPr>
          <p:nvPr/>
        </p:nvSpPr>
        <p:spPr>
          <a:xfrm>
            <a:off x="5619750" y="4552950"/>
            <a:ext cx="5334000" cy="781050"/>
          </a:xfrm>
          <a:prstGeom prst="roundRect">
            <a:avLst>
              <a:gd name="adj" fmla="val 2926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6AE9F87-C251-480E-A557-80A97385AF2F}"/>
              </a:ext>
            </a:extLst>
          </p:cNvPr>
          <p:cNvSpPr>
            <a:spLocks noGrp="1"/>
          </p:cNvSpPr>
          <p:nvPr/>
        </p:nvSpPr>
        <p:spPr>
          <a:xfrm>
            <a:off x="5829300" y="4781550"/>
            <a:ext cx="5334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53D8AF9-A69A-4A42-AE85-1916171E4BAF}"/>
              </a:ext>
            </a:extLst>
          </p:cNvPr>
          <p:cNvSpPr>
            <a:spLocks noGrp="1"/>
          </p:cNvSpPr>
          <p:nvPr/>
        </p:nvSpPr>
        <p:spPr>
          <a:xfrm>
            <a:off x="5905500" y="47815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84FE8C2-A4D4-48EC-81FA-27209CA28850}"/>
              </a:ext>
            </a:extLst>
          </p:cNvPr>
          <p:cNvSpPr>
            <a:spLocks noGrp="1"/>
          </p:cNvSpPr>
          <p:nvPr/>
        </p:nvSpPr>
        <p:spPr>
          <a:xfrm>
            <a:off x="6591300" y="47244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90DD306-38D6-43B3-AF14-0EBD0544160A}"/>
              </a:ext>
            </a:extLst>
          </p:cNvPr>
          <p:cNvSpPr>
            <a:spLocks noGrp="1"/>
          </p:cNvSpPr>
          <p:nvPr/>
        </p:nvSpPr>
        <p:spPr>
          <a:xfrm>
            <a:off x="7677150" y="474345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锁定按钮，防止重复提交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A3EC00B-5560-47F9-BE88-F3C9F512A83E}"/>
              </a:ext>
            </a:extLst>
          </p:cNvPr>
          <p:cNvSpPr>
            <a:spLocks noGrp="1"/>
          </p:cNvSpPr>
          <p:nvPr/>
        </p:nvSpPr>
        <p:spPr>
          <a:xfrm>
            <a:off x="5619750" y="565785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7F9B86">
              <a:alpha val="12000"/>
            </a:srgbClr>
          </a:solidFill>
          <a:ln w="9525">
            <a:solidFill>
              <a:srgbClr val="7F9B86">
                <a:alpha val="4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61BB845-16F1-481E-AD04-5038D92E3A54}"/>
              </a:ext>
            </a:extLst>
          </p:cNvPr>
          <p:cNvSpPr>
            <a:spLocks noGrp="1"/>
          </p:cNvSpPr>
          <p:nvPr/>
        </p:nvSpPr>
        <p:spPr>
          <a:xfrm>
            <a:off x="5772150" y="5743575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页面只转发事件：DiagnosisViewModel → InputValidationService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C72E5A4-4426-4B7C-B24C-B7BA2C98195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DC85B3E-BD3C-45FB-8251-A2616F0D9B9E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271893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B04930BD-F4E3-4E28-B805-A0BC1D91CC4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5A2903-DF3A-4F6F-9DBF-F1D8DCCA31A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重点功能二：日志信号驱动可解释诊断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1B6ACC-2C34-4B98-81C1-02CA9AEE38B1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9A7878-8AEA-4FEB-9FA8-3FEFD2DA219F}"/>
              </a:ext>
            </a:extLst>
          </p:cNvPr>
          <p:cNvSpPr>
            <a:spLocks noGrp="1"/>
          </p:cNvSpPr>
          <p:nvPr/>
        </p:nvSpPr>
        <p:spPr>
          <a:xfrm>
            <a:off x="1924050" y="2266950"/>
            <a:ext cx="5524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C6700BEB-BD7B-41D0-95F5-D30511821147}"/>
              </a:ext>
            </a:extLst>
          </p:cNvPr>
          <p:cNvSpPr>
            <a:spLocks noGrp="1"/>
          </p:cNvSpPr>
          <p:nvPr/>
        </p:nvSpPr>
        <p:spPr>
          <a:xfrm>
            <a:off x="2305050" y="2152650"/>
            <a:ext cx="190500" cy="266700"/>
          </a:xfrm>
          <a:prstGeom prst="chevron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1E2117-35C6-489C-BA12-F513129177E3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5524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0318F0E9-9A82-4879-96A2-058C65A623C7}"/>
              </a:ext>
            </a:extLst>
          </p:cNvPr>
          <p:cNvSpPr>
            <a:spLocks noGrp="1"/>
          </p:cNvSpPr>
          <p:nvPr/>
        </p:nvSpPr>
        <p:spPr>
          <a:xfrm>
            <a:off x="4191000" y="2152650"/>
            <a:ext cx="190500" cy="266700"/>
          </a:xfrm>
          <a:prstGeom prst="chevron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67263-A564-4914-93B3-0BBE70805755}"/>
              </a:ext>
            </a:extLst>
          </p:cNvPr>
          <p:cNvSpPr>
            <a:spLocks noGrp="1"/>
          </p:cNvSpPr>
          <p:nvPr/>
        </p:nvSpPr>
        <p:spPr>
          <a:xfrm>
            <a:off x="5695950" y="2266950"/>
            <a:ext cx="5524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B31F19BE-67AE-4A3E-91B6-B9ED5258BB9A}"/>
              </a:ext>
            </a:extLst>
          </p:cNvPr>
          <p:cNvSpPr>
            <a:spLocks noGrp="1"/>
          </p:cNvSpPr>
          <p:nvPr/>
        </p:nvSpPr>
        <p:spPr>
          <a:xfrm>
            <a:off x="6076950" y="2152650"/>
            <a:ext cx="190500" cy="266700"/>
          </a:xfrm>
          <a:prstGeom prst="chevron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E52B58-C7D2-465B-BE55-7417BEDAF5AF}"/>
              </a:ext>
            </a:extLst>
          </p:cNvPr>
          <p:cNvSpPr>
            <a:spLocks noGrp="1"/>
          </p:cNvSpPr>
          <p:nvPr/>
        </p:nvSpPr>
        <p:spPr>
          <a:xfrm>
            <a:off x="7581900" y="2266950"/>
            <a:ext cx="5524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E2D5BC9E-858E-4760-9CE4-1502899D9338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190500" cy="266700"/>
          </a:xfrm>
          <a:prstGeom prst="chevron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BBF030-1EE3-43A7-A1D4-E5F10CAFFA01}"/>
              </a:ext>
            </a:extLst>
          </p:cNvPr>
          <p:cNvSpPr>
            <a:spLocks noGrp="1"/>
          </p:cNvSpPr>
          <p:nvPr/>
        </p:nvSpPr>
        <p:spPr>
          <a:xfrm>
            <a:off x="9467850" y="2266950"/>
            <a:ext cx="5524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箭头: V 形 12">
            <a:extLst>
              <a:ext uri="{FF2B5EF4-FFF2-40B4-BE49-F238E27FC236}">
                <a16:creationId xmlns:a16="http://schemas.microsoft.com/office/drawing/2014/main" id="{18FC93E4-A394-4038-8B11-97D74E536BD7}"/>
              </a:ext>
            </a:extLst>
          </p:cNvPr>
          <p:cNvSpPr>
            <a:spLocks noGrp="1"/>
          </p:cNvSpPr>
          <p:nvPr/>
        </p:nvSpPr>
        <p:spPr>
          <a:xfrm>
            <a:off x="9848850" y="2152650"/>
            <a:ext cx="190500" cy="266700"/>
          </a:xfrm>
          <a:prstGeom prst="chevron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17D1813-14B8-43CE-90AE-CD142E177B2B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9D7445-74EC-40A3-9438-C46BFFD248BC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FB23BE-F58E-40DE-B650-78015EA750BD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错误文本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66A5086-3B6E-4C04-9781-264250408349}"/>
              </a:ext>
            </a:extLst>
          </p:cNvPr>
          <p:cNvSpPr>
            <a:spLocks noGrp="1"/>
          </p:cNvSpPr>
          <p:nvPr/>
        </p:nvSpPr>
        <p:spPr>
          <a:xfrm>
            <a:off x="247650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A5D663-93FE-4AE9-B5D1-8BEE145F718E}"/>
              </a:ext>
            </a:extLst>
          </p:cNvPr>
          <p:cNvSpPr>
            <a:spLocks noGrp="1"/>
          </p:cNvSpPr>
          <p:nvPr/>
        </p:nvSpPr>
        <p:spPr>
          <a:xfrm>
            <a:off x="247650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584D92-2869-4CB5-A013-147AB3628DE1}"/>
              </a:ext>
            </a:extLst>
          </p:cNvPr>
          <p:cNvSpPr>
            <a:spLocks noGrp="1"/>
          </p:cNvSpPr>
          <p:nvPr/>
        </p:nvSpPr>
        <p:spPr>
          <a:xfrm>
            <a:off x="255270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提取信号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6D92E5C-A121-4183-85E9-E88083AA8D55}"/>
              </a:ext>
            </a:extLst>
          </p:cNvPr>
          <p:cNvSpPr>
            <a:spLocks noGrp="1"/>
          </p:cNvSpPr>
          <p:nvPr/>
        </p:nvSpPr>
        <p:spPr>
          <a:xfrm>
            <a:off x="436245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035036-A4EB-4B84-A222-6DB38977C354}"/>
              </a:ext>
            </a:extLst>
          </p:cNvPr>
          <p:cNvSpPr>
            <a:spLocks noGrp="1"/>
          </p:cNvSpPr>
          <p:nvPr/>
        </p:nvSpPr>
        <p:spPr>
          <a:xfrm>
            <a:off x="436245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CCF2F2-6009-47F8-B01E-AD58A83622E6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优先级裁决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FC62E4-4B96-4E1E-AC46-E1BAA20CE080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2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1B53A6-CF4C-4B57-B8CA-FCD36E6022E3}"/>
              </a:ext>
            </a:extLst>
          </p:cNvPr>
          <p:cNvSpPr>
            <a:spLocks noGrp="1"/>
          </p:cNvSpPr>
          <p:nvPr/>
        </p:nvSpPr>
        <p:spPr>
          <a:xfrm>
            <a:off x="624840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29B613-2399-4568-800F-666164FDF613}"/>
              </a:ext>
            </a:extLst>
          </p:cNvPr>
          <p:cNvSpPr>
            <a:spLocks noGrp="1"/>
          </p:cNvSpPr>
          <p:nvPr/>
        </p:nvSpPr>
        <p:spPr>
          <a:xfrm>
            <a:off x="632460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主规则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69D387D-B7B8-4AC1-982A-1A4FAB6DDFDC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01EA46-B39D-414D-9730-29D9EEF8C879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A67F2EC-09C0-49FF-81F0-B162DD1155D9}"/>
              </a:ext>
            </a:extLst>
          </p:cNvPr>
          <p:cNvSpPr>
            <a:spLocks noGrp="1"/>
          </p:cNvSpPr>
          <p:nvPr/>
        </p:nvSpPr>
        <p:spPr>
          <a:xfrm>
            <a:off x="821055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次要标签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83A0D3C-6A04-4EDD-ABE5-79FA2EE7B5AC}"/>
              </a:ext>
            </a:extLst>
          </p:cNvPr>
          <p:cNvSpPr>
            <a:spLocks noGrp="1"/>
          </p:cNvSpPr>
          <p:nvPr/>
        </p:nvSpPr>
        <p:spPr>
          <a:xfrm>
            <a:off x="10020300" y="1790700"/>
            <a:ext cx="1352550" cy="990600"/>
          </a:xfrm>
          <a:prstGeom prst="roundRect">
            <a:avLst>
              <a:gd name="adj" fmla="val 15385"/>
            </a:avLst>
          </a:prstGeom>
          <a:solidFill>
            <a:srgbClr val="7F9B86">
              <a:alpha val="16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243115-5673-428B-A5AA-BB5EAB2C4D3C}"/>
              </a:ext>
            </a:extLst>
          </p:cNvPr>
          <p:cNvSpPr>
            <a:spLocks noGrp="1"/>
          </p:cNvSpPr>
          <p:nvPr/>
        </p:nvSpPr>
        <p:spPr>
          <a:xfrm>
            <a:off x="10020300" y="194310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9F09A1-7592-4ACF-9146-0A577595B97C}"/>
              </a:ext>
            </a:extLst>
          </p:cNvPr>
          <p:cNvSpPr>
            <a:spLocks noGrp="1"/>
          </p:cNvSpPr>
          <p:nvPr/>
        </p:nvSpPr>
        <p:spPr>
          <a:xfrm>
            <a:off x="10096500" y="224790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生成报告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C20399B-8745-47FF-99AC-F0034E3450BE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5048250" cy="2114550"/>
          </a:xfrm>
          <a:prstGeom prst="roundRect">
            <a:avLst>
              <a:gd name="adj" fmla="val 10811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D688CF0-A4CE-4669-8219-338C716F99A6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5048250" cy="2343694"/>
          </a:xfrm>
          <a:prstGeom prst="roundRect">
            <a:avLst>
              <a:gd name="adj" fmla="val 10811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B06F6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0B422A-9840-4B6C-BCF0-ADE963D71D5D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脱敏错误样例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7D6C85-B45C-4BF8-AA00-7964D6D62300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45148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D6673"/>
                </a:solidFill>
                <a:latin typeface="Consolas"/>
                <a:ea typeface="Consolas"/>
                <a:cs typeface="Consolas"/>
              </a:rPr>
              <a:t>Type 'string' is not assignable to type 'number'.</a:t>
            </a:r>
          </a:p>
          <a:p>
            <a:pPr algn="l">
              <a:defRPr sz="1350" b="0">
                <a:solidFill>
                  <a:srgbClr val="5D667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D6673"/>
                </a:solidFill>
                <a:latin typeface="Consolas"/>
                <a:ea typeface="Consolas"/>
                <a:cs typeface="Consolas"/>
              </a:rPr>
              <a:t>BUILD FAILED in 1 s 932 ms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93D2E55-CB83-4D16-B7C8-98B62FD7F9C7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188595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3000"/>
            </a:srgbClr>
          </a:solidFill>
          <a:ln w="9525">
            <a:solidFill>
              <a:srgbClr val="B06F61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073E72B-CD2D-4B96-8191-D1B87D4ADF2B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不能只匹配最后一行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1E8C92E-1DAB-4F86-8ADF-DDBE4ABA03EE}"/>
              </a:ext>
            </a:extLst>
          </p:cNvPr>
          <p:cNvSpPr>
            <a:spLocks noGrp="1"/>
          </p:cNvSpPr>
          <p:nvPr/>
        </p:nvSpPr>
        <p:spPr>
          <a:xfrm>
            <a:off x="5905500" y="3305175"/>
            <a:ext cx="5676900" cy="2114550"/>
          </a:xfrm>
          <a:prstGeom prst="roundRect">
            <a:avLst>
              <a:gd name="adj" fmla="val 10811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EDB461B-1B79-4707-896C-D4321B4CBE1E}"/>
              </a:ext>
            </a:extLst>
          </p:cNvPr>
          <p:cNvSpPr>
            <a:spLocks noGrp="1"/>
          </p:cNvSpPr>
          <p:nvPr/>
        </p:nvSpPr>
        <p:spPr>
          <a:xfrm>
            <a:off x="5905500" y="3238500"/>
            <a:ext cx="5676900" cy="2343694"/>
          </a:xfrm>
          <a:prstGeom prst="roundRect">
            <a:avLst>
              <a:gd name="adj" fmla="val 10811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8392530-B7AB-44B5-BF58-6FCE01EA0664}"/>
              </a:ext>
            </a:extLst>
          </p:cNvPr>
          <p:cNvSpPr>
            <a:spLocks noGrp="1"/>
          </p:cNvSpPr>
          <p:nvPr/>
        </p:nvSpPr>
        <p:spPr>
          <a:xfrm>
            <a:off x="6153150" y="3486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裁决结果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E373C66-D4AC-455C-B943-7F66B069159E}"/>
              </a:ext>
            </a:extLst>
          </p:cNvPr>
          <p:cNvSpPr>
            <a:spLocks noGrp="1"/>
          </p:cNvSpPr>
          <p:nvPr/>
        </p:nvSpPr>
        <p:spPr>
          <a:xfrm>
            <a:off x="6153150" y="394335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6000"/>
            </a:srgbClr>
          </a:solidFill>
          <a:ln w="9525">
            <a:solidFill>
              <a:srgbClr val="7189A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C113DCD-C6E4-43C3-82ED-24C6787FC30A}"/>
              </a:ext>
            </a:extLst>
          </p:cNvPr>
          <p:cNvSpPr>
            <a:spLocks noGrp="1"/>
          </p:cNvSpPr>
          <p:nvPr/>
        </p:nvSpPr>
        <p:spPr>
          <a:xfrm>
            <a:off x="6229350" y="394335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ArkTS 类型错误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89CFAFF-C6E1-4730-8F80-B7574FA8BB72}"/>
              </a:ext>
            </a:extLst>
          </p:cNvPr>
          <p:cNvSpPr>
            <a:spLocks noGrp="1"/>
          </p:cNvSpPr>
          <p:nvPr/>
        </p:nvSpPr>
        <p:spPr>
          <a:xfrm>
            <a:off x="7848600" y="3943350"/>
            <a:ext cx="1219200" cy="323850"/>
          </a:xfrm>
          <a:prstGeom prst="roundRect">
            <a:avLst>
              <a:gd name="adj" fmla="val 50000"/>
            </a:avLst>
          </a:prstGeom>
          <a:solidFill>
            <a:srgbClr val="A7B2BE">
              <a:alpha val="25000"/>
            </a:srgbClr>
          </a:solidFill>
          <a:ln w="9525">
            <a:solidFill>
              <a:srgbClr val="A7B2BE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BAEBE40-BD85-449F-9A8B-A834BB30F6D9}"/>
              </a:ext>
            </a:extLst>
          </p:cNvPr>
          <p:cNvSpPr>
            <a:spLocks noGrp="1"/>
          </p:cNvSpPr>
          <p:nvPr/>
        </p:nvSpPr>
        <p:spPr>
          <a:xfrm>
            <a:off x="7924800" y="394335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类型约束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49798C9-079A-4C9E-9FE5-098A638F4C0A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219200" cy="323850"/>
          </a:xfrm>
          <a:prstGeom prst="roundRect">
            <a:avLst>
              <a:gd name="adj" fmla="val 50000"/>
            </a:avLst>
          </a:prstGeom>
          <a:solidFill>
            <a:srgbClr val="A7B2BE">
              <a:alpha val="25000"/>
            </a:srgbClr>
          </a:solidFill>
          <a:ln w="9525">
            <a:solidFill>
              <a:srgbClr val="A7B2BE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A6319B7-0363-427B-A8E9-4C01357FB6F0}"/>
              </a:ext>
            </a:extLst>
          </p:cNvPr>
          <p:cNvSpPr>
            <a:spLocks noGrp="1"/>
          </p:cNvSpPr>
          <p:nvPr/>
        </p:nvSpPr>
        <p:spPr>
          <a:xfrm>
            <a:off x="9277350" y="394335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编译阶段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8DAD36A-AFEA-4F41-8665-79052793407B}"/>
              </a:ext>
            </a:extLst>
          </p:cNvPr>
          <p:cNvSpPr>
            <a:spLocks noGrp="1"/>
          </p:cNvSpPr>
          <p:nvPr/>
        </p:nvSpPr>
        <p:spPr>
          <a:xfrm>
            <a:off x="6153150" y="4552950"/>
            <a:ext cx="4914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本地：关键词/正则提取信号并确定性裁决；后端：日志 → 分类、步骤、requestId。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B0AD6D5-3DC6-4090-8EF9-7773855274EC}"/>
              </a:ext>
            </a:extLst>
          </p:cNvPr>
          <p:cNvSpPr>
            <a:spLocks noGrp="1"/>
          </p:cNvSpPr>
          <p:nvPr/>
        </p:nvSpPr>
        <p:spPr>
          <a:xfrm>
            <a:off x="6153150" y="50482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5000"/>
            </a:srgbClr>
          </a:solidFill>
          <a:ln w="9525">
            <a:solidFill>
              <a:srgbClr val="7F9B8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DFEFDA-2647-4949-94FA-C4790E851E9D}"/>
              </a:ext>
            </a:extLst>
          </p:cNvPr>
          <p:cNvSpPr>
            <a:spLocks noGrp="1"/>
          </p:cNvSpPr>
          <p:nvPr/>
        </p:nvSpPr>
        <p:spPr>
          <a:xfrm>
            <a:off x="6229350" y="50482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本地断网可用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CD622587-98AC-4E90-A45F-01D1D9E212A6}"/>
              </a:ext>
            </a:extLst>
          </p:cNvPr>
          <p:cNvSpPr>
            <a:spLocks noGrp="1"/>
          </p:cNvSpPr>
          <p:nvPr/>
        </p:nvSpPr>
        <p:spPr>
          <a:xfrm>
            <a:off x="7391400" y="50482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5000"/>
            </a:srgbClr>
          </a:solidFill>
          <a:ln w="9525">
            <a:solidFill>
              <a:srgbClr val="7F9B8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0E1FE46-F700-4558-B886-9343B8883DBE}"/>
              </a:ext>
            </a:extLst>
          </p:cNvPr>
          <p:cNvSpPr>
            <a:spLocks noGrp="1"/>
          </p:cNvSpPr>
          <p:nvPr/>
        </p:nvSpPr>
        <p:spPr>
          <a:xfrm>
            <a:off x="7467600" y="50482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结果可复现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41E36A2-9475-40E7-A782-15FFDF00BC13}"/>
              </a:ext>
            </a:extLst>
          </p:cNvPr>
          <p:cNvSpPr>
            <a:spLocks noGrp="1"/>
          </p:cNvSpPr>
          <p:nvPr/>
        </p:nvSpPr>
        <p:spPr>
          <a:xfrm>
            <a:off x="8629650" y="504825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3000"/>
            </a:srgbClr>
          </a:solidFill>
          <a:ln w="9525">
            <a:solidFill>
              <a:srgbClr val="B06F61">
                <a:alpha val="3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FE3BF3C-DB0B-4C6E-A51B-0A36B3CD5BD2}"/>
              </a:ext>
            </a:extLst>
          </p:cNvPr>
          <p:cNvSpPr>
            <a:spLocks noGrp="1"/>
          </p:cNvSpPr>
          <p:nvPr/>
        </p:nvSpPr>
        <p:spPr>
          <a:xfrm>
            <a:off x="8705850" y="5048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未知错误不武断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EEA3516-1FF5-4AD4-A854-0E55AF9AA0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E50B47-47DC-46FE-BB38-CA920FCDD743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15976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80609BE6-0DFA-4EBB-B0B3-288745D0BC6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B306E-E49C-4304-82F1-E89DE019A7F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重点功能三：把错误整理为可逐项验证的路径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AE15F-714F-4879-8D4A-4BDE981527A9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97496D8-12AB-436D-81AE-8B95F3702BA5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8D9E79C-73E2-49D6-998D-EF7AAF5B7C7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5936C7-546E-401D-8CA3-75F1465E5776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E6A157-E7D2-4267-B0AB-E77405025AAD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分类与摘要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95B829-6B0A-45FE-8037-4FB9ADECB1E1}"/>
              </a:ext>
            </a:extLst>
          </p:cNvPr>
          <p:cNvSpPr>
            <a:spLocks noGrp="1"/>
          </p:cNvSpPr>
          <p:nvPr/>
        </p:nvSpPr>
        <p:spPr>
          <a:xfrm>
            <a:off x="2971800" y="17430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7D34011-BDE5-4214-A8BA-62B393EAB7C4}"/>
              </a:ext>
            </a:extLst>
          </p:cNvPr>
          <p:cNvSpPr>
            <a:spLocks noGrp="1"/>
          </p:cNvSpPr>
          <p:nvPr/>
        </p:nvSpPr>
        <p:spPr>
          <a:xfrm>
            <a:off x="2971800" y="16764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222524-C826-48F5-AD5C-C9D371A6B0EF}"/>
              </a:ext>
            </a:extLst>
          </p:cNvPr>
          <p:cNvSpPr>
            <a:spLocks noGrp="1"/>
          </p:cNvSpPr>
          <p:nvPr/>
        </p:nvSpPr>
        <p:spPr>
          <a:xfrm>
            <a:off x="3162300" y="18478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ABFF86-DA34-4CA1-8A99-AFA833ADD065}"/>
              </a:ext>
            </a:extLst>
          </p:cNvPr>
          <p:cNvSpPr>
            <a:spLocks noGrp="1"/>
          </p:cNvSpPr>
          <p:nvPr/>
        </p:nvSpPr>
        <p:spPr>
          <a:xfrm>
            <a:off x="3162300" y="21526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命中证据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18CDBB-A98D-443C-899E-AAB10C85AA7D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CC26AF8-5A2C-425A-A397-93DC5A122D1F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5E4CF7-6A75-4642-A482-ACFEC6DDC3BD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5F7DC1-168A-4925-BAA9-ADA639326157}"/>
              </a:ext>
            </a:extLst>
          </p:cNvPr>
          <p:cNvSpPr>
            <a:spLocks noGrp="1"/>
          </p:cNvSpPr>
          <p:nvPr/>
        </p:nvSpPr>
        <p:spPr>
          <a:xfrm>
            <a:off x="800100" y="34099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可能原因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5338DB-BC20-4259-9201-B9A62CC1ED81}"/>
              </a:ext>
            </a:extLst>
          </p:cNvPr>
          <p:cNvSpPr>
            <a:spLocks noGrp="1"/>
          </p:cNvSpPr>
          <p:nvPr/>
        </p:nvSpPr>
        <p:spPr>
          <a:xfrm>
            <a:off x="2971800" y="30003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86F52D-B2A5-4F7A-9BC8-66AFA87BF1BC}"/>
              </a:ext>
            </a:extLst>
          </p:cNvPr>
          <p:cNvSpPr>
            <a:spLocks noGrp="1"/>
          </p:cNvSpPr>
          <p:nvPr/>
        </p:nvSpPr>
        <p:spPr>
          <a:xfrm>
            <a:off x="2971800" y="29337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450CFB-AA98-4FD8-B312-56A1DB46F410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FC186-3F8B-4ABD-9F5D-7925AF078C61}"/>
              </a:ext>
            </a:extLst>
          </p:cNvPr>
          <p:cNvSpPr>
            <a:spLocks noGrp="1"/>
          </p:cNvSpPr>
          <p:nvPr/>
        </p:nvSpPr>
        <p:spPr>
          <a:xfrm>
            <a:off x="3162300" y="34099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排查步骤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A90199-D6B2-4EC5-B021-C8953772378D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28937BA-877F-4804-B17F-7DCA8BF0C863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B06F6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40B3D5-7BCD-4108-B0C0-FA334C7BCEF9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29F7EB-6EE2-465E-99CE-CDAFA4EEF40C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建议与风险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9202705-19D1-454A-83FE-A1BA00C8E82E}"/>
              </a:ext>
            </a:extLst>
          </p:cNvPr>
          <p:cNvSpPr>
            <a:spLocks noGrp="1"/>
          </p:cNvSpPr>
          <p:nvPr/>
        </p:nvSpPr>
        <p:spPr>
          <a:xfrm>
            <a:off x="2971800" y="4257675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3E0E9A3-5EE0-4C76-A8E1-12D307624DE3}"/>
              </a:ext>
            </a:extLst>
          </p:cNvPr>
          <p:cNvSpPr>
            <a:spLocks noGrp="1"/>
          </p:cNvSpPr>
          <p:nvPr/>
        </p:nvSpPr>
        <p:spPr>
          <a:xfrm>
            <a:off x="2971800" y="4191000"/>
            <a:ext cx="2152650" cy="990600"/>
          </a:xfrm>
          <a:prstGeom prst="roundRect">
            <a:avLst>
              <a:gd name="adj" fmla="val 2307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47A4A0D-924B-4520-B5FA-0BA8BBC63BB3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A68F0E-E626-4A9C-BE3E-C8E5ED0124EB}"/>
              </a:ext>
            </a:extLst>
          </p:cNvPr>
          <p:cNvSpPr>
            <a:spLocks noGrp="1"/>
          </p:cNvSpPr>
          <p:nvPr/>
        </p:nvSpPr>
        <p:spPr>
          <a:xfrm>
            <a:off x="3162300" y="46672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诊断原文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0C2C44-E111-448F-A9E0-18B94E20FDFF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4514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从错误描述到可执行步骤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2E29A0D-9C13-4C85-BC28-1C52FA93DC2B}"/>
              </a:ext>
            </a:extLst>
          </p:cNvPr>
          <p:cNvSpPr>
            <a:spLocks noGrp="1"/>
          </p:cNvSpPr>
          <p:nvPr/>
        </p:nvSpPr>
        <p:spPr>
          <a:xfrm>
            <a:off x="6162008" y="1514475"/>
            <a:ext cx="5420392" cy="4686300"/>
          </a:xfrm>
          <a:prstGeom prst="roundRect">
            <a:avLst>
              <a:gd name="adj" fmla="val 487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5788879-1739-42D8-AFE3-672B789D86E6}"/>
              </a:ext>
            </a:extLst>
          </p:cNvPr>
          <p:cNvSpPr>
            <a:spLocks noGrp="1"/>
          </p:cNvSpPr>
          <p:nvPr/>
        </p:nvSpPr>
        <p:spPr>
          <a:xfrm>
            <a:off x="6096000" y="1447800"/>
            <a:ext cx="5486400" cy="4686300"/>
          </a:xfrm>
          <a:prstGeom prst="roundRect">
            <a:avLst>
              <a:gd name="adj" fmla="val 487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33E4E6D-8638-4F38-B8FF-5D0731470E76}"/>
              </a:ext>
            </a:extLst>
          </p:cNvPr>
          <p:cNvSpPr>
            <a:spLocks noGrp="1"/>
          </p:cNvSpPr>
          <p:nvPr/>
        </p:nvSpPr>
        <p:spPr>
          <a:xfrm>
            <a:off x="9925050" y="1657350"/>
            <a:ext cx="1390650" cy="4267200"/>
          </a:xfrm>
          <a:prstGeom prst="rect">
            <a:avLst/>
          </a:prstGeom>
          <a:solidFill>
            <a:srgbClr val="F8F9F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691521F-D2A3-4CEB-99AA-EC54DF4D0B9C}"/>
              </a:ext>
            </a:extLst>
          </p:cNvPr>
          <p:cNvSpPr>
            <a:spLocks noGrp="1"/>
          </p:cNvSpPr>
          <p:nvPr/>
        </p:nvSpPr>
        <p:spPr>
          <a:xfrm>
            <a:off x="10077450" y="2628900"/>
            <a:ext cx="108585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3000"/>
            </a:srgbClr>
          </a:solidFill>
          <a:ln w="9525">
            <a:solidFill>
              <a:srgbClr val="7189A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35ED5C-28DC-4B76-946F-2E2B4834F368}"/>
              </a:ext>
            </a:extLst>
          </p:cNvPr>
          <p:cNvSpPr>
            <a:spLocks noGrp="1"/>
          </p:cNvSpPr>
          <p:nvPr/>
        </p:nvSpPr>
        <p:spPr>
          <a:xfrm>
            <a:off x="10153650" y="26289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97CB850-6C13-4F4F-B7DA-B4EAC143FDA1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108585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091C17-0698-4215-9DC6-AB679E42DEC6}"/>
              </a:ext>
            </a:extLst>
          </p:cNvPr>
          <p:cNvSpPr>
            <a:spLocks noGrp="1"/>
          </p:cNvSpPr>
          <p:nvPr/>
        </p:nvSpPr>
        <p:spPr>
          <a:xfrm>
            <a:off x="10153650" y="31432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C9DD01E-E0EF-47EC-975F-8F38EC76D7B7}"/>
              </a:ext>
            </a:extLst>
          </p:cNvPr>
          <p:cNvSpPr>
            <a:spLocks noGrp="1"/>
          </p:cNvSpPr>
          <p:nvPr/>
        </p:nvSpPr>
        <p:spPr>
          <a:xfrm>
            <a:off x="10077450" y="3657600"/>
            <a:ext cx="108585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2000"/>
            </a:srgbClr>
          </a:solidFill>
          <a:ln w="9525">
            <a:solidFill>
              <a:srgbClr val="B06F6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D67D4FA-1EEF-4849-99ED-F91629A42E2F}"/>
              </a:ext>
            </a:extLst>
          </p:cNvPr>
          <p:cNvSpPr>
            <a:spLocks noGrp="1"/>
          </p:cNvSpPr>
          <p:nvPr/>
        </p:nvSpPr>
        <p:spPr>
          <a:xfrm>
            <a:off x="10153650" y="36576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8616C92-E703-4F49-B7D4-4AA2F9C1D3F6}"/>
              </a:ext>
            </a:extLst>
          </p:cNvPr>
          <p:cNvSpPr>
            <a:spLocks noGrp="1"/>
          </p:cNvSpPr>
          <p:nvPr/>
        </p:nvSpPr>
        <p:spPr>
          <a:xfrm>
            <a:off x="10077450" y="5257800"/>
            <a:ext cx="108585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3000"/>
            </a:srgbClr>
          </a:solidFill>
          <a:ln w="9525">
            <a:solidFill>
              <a:srgbClr val="7189A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29B57B9-4862-4706-8D0D-8265086BD7D7}"/>
              </a:ext>
            </a:extLst>
          </p:cNvPr>
          <p:cNvSpPr>
            <a:spLocks noGrp="1"/>
          </p:cNvSpPr>
          <p:nvPr/>
        </p:nvSpPr>
        <p:spPr>
          <a:xfrm>
            <a:off x="10153650" y="52578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真实运行截图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716FA66-E738-43EF-915F-5B9F4B5EEB61}"/>
              </a:ext>
            </a:extLst>
          </p:cNvPr>
          <p:cNvSpPr>
            <a:spLocks noGrp="1"/>
          </p:cNvSpPr>
          <p:nvPr/>
        </p:nvSpPr>
        <p:spPr>
          <a:xfrm>
            <a:off x="6267450" y="5686425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8000"/>
            </a:srgbClr>
          </a:solidFill>
          <a:ln w="9525">
            <a:solidFill>
              <a:srgbClr val="7189A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D15FDBB-8C6F-43AF-B073-08449E97919D}"/>
              </a:ext>
            </a:extLst>
          </p:cNvPr>
          <p:cNvSpPr>
            <a:spLocks noGrp="1"/>
          </p:cNvSpPr>
          <p:nvPr/>
        </p:nvSpPr>
        <p:spPr>
          <a:xfrm>
            <a:off x="6343650" y="568642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sessionId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95A8CC5-EBEC-460F-BD5D-B17257D22FA9}"/>
              </a:ext>
            </a:extLst>
          </p:cNvPr>
          <p:cNvSpPr>
            <a:spLocks noGrp="1"/>
          </p:cNvSpPr>
          <p:nvPr/>
        </p:nvSpPr>
        <p:spPr>
          <a:xfrm>
            <a:off x="6250033" y="525780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8000"/>
            </a:srgbClr>
          </a:solidFill>
          <a:ln w="9525">
            <a:solidFill>
              <a:srgbClr val="7F9B8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8881F12-D3A9-425F-9F90-49578B1BC1BE}"/>
              </a:ext>
            </a:extLst>
          </p:cNvPr>
          <p:cNvSpPr>
            <a:spLocks noGrp="1"/>
          </p:cNvSpPr>
          <p:nvPr/>
        </p:nvSpPr>
        <p:spPr>
          <a:xfrm>
            <a:off x="6326233" y="5248275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reportId</a:t>
            </a:r>
            <a:endParaRPr sz="1050" b="1" dirty="0">
              <a:solidFill>
                <a:srgbClr val="7F9B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AC9FAB8-BC8D-401D-B07F-C2242951FBF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8C3A661-EB7C-4624-BC7A-281D959DD919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8 / 15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91C05610-7139-E2D0-1084-FAD6E05D2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410" y="1495298"/>
            <a:ext cx="2112356" cy="464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2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64A558A4-E0EE-4040-9A6F-AD2939CEE1B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2CF98F-6ABF-4C39-B43D-757FAB62B69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重点功能四：即时反馈与数据库一致性同时成立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B26FD8-4B8E-4B9B-8205-58FE5EC6F59E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00AEF4F-1DAE-45F6-873F-F2ABAB83DBFB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3924300" cy="4762500"/>
          </a:xfrm>
          <a:prstGeom prst="roundRect">
            <a:avLst>
              <a:gd name="adj" fmla="val 5825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3FB5B9E-5F5F-472A-8783-FC7C569D2AC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3924300" cy="4762500"/>
          </a:xfrm>
          <a:prstGeom prst="roundRect">
            <a:avLst>
              <a:gd name="adj" fmla="val 582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D78F26-5007-46F7-9549-7CAEE6A3643B}"/>
              </a:ext>
            </a:extLst>
          </p:cNvPr>
          <p:cNvSpPr>
            <a:spLocks noGrp="1"/>
          </p:cNvSpPr>
          <p:nvPr/>
        </p:nvSpPr>
        <p:spPr>
          <a:xfrm>
            <a:off x="3486150" y="1657350"/>
            <a:ext cx="838200" cy="4305300"/>
          </a:xfrm>
          <a:prstGeom prst="rect">
            <a:avLst/>
          </a:prstGeom>
          <a:solidFill>
            <a:srgbClr val="F8F9F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B2C10FE-8895-420A-A588-4685FDD61458}"/>
              </a:ext>
            </a:extLst>
          </p:cNvPr>
          <p:cNvSpPr>
            <a:spLocks noGrp="1"/>
          </p:cNvSpPr>
          <p:nvPr/>
        </p:nvSpPr>
        <p:spPr>
          <a:xfrm>
            <a:off x="3600450" y="2724150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3000"/>
            </a:srgbClr>
          </a:solidFill>
          <a:ln w="9525">
            <a:solidFill>
              <a:srgbClr val="7189A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F0C453-1E57-4636-9E0F-6BBEA4D86102}"/>
              </a:ext>
            </a:extLst>
          </p:cNvPr>
          <p:cNvSpPr>
            <a:spLocks noGrp="1"/>
          </p:cNvSpPr>
          <p:nvPr/>
        </p:nvSpPr>
        <p:spPr>
          <a:xfrm>
            <a:off x="3676650" y="27241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保存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7290CF-A164-4CBA-A830-D6F328F194CD}"/>
              </a:ext>
            </a:extLst>
          </p:cNvPr>
          <p:cNvSpPr>
            <a:spLocks noGrp="1"/>
          </p:cNvSpPr>
          <p:nvPr/>
        </p:nvSpPr>
        <p:spPr>
          <a:xfrm>
            <a:off x="3600450" y="3295650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4000"/>
            </a:srgbClr>
          </a:solidFill>
          <a:ln w="9525">
            <a:solidFill>
              <a:srgbClr val="7F9B8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94BA41-6DD6-4854-BDB6-260DED4A6B87}"/>
              </a:ext>
            </a:extLst>
          </p:cNvPr>
          <p:cNvSpPr>
            <a:spLocks noGrp="1"/>
          </p:cNvSpPr>
          <p:nvPr/>
        </p:nvSpPr>
        <p:spPr>
          <a:xfrm>
            <a:off x="3676650" y="32956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收藏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0A853C-14A3-473F-937A-14B3DBB95ABA}"/>
              </a:ext>
            </a:extLst>
          </p:cNvPr>
          <p:cNvSpPr>
            <a:spLocks noGrp="1"/>
          </p:cNvSpPr>
          <p:nvPr/>
        </p:nvSpPr>
        <p:spPr>
          <a:xfrm>
            <a:off x="3600450" y="3867150"/>
            <a:ext cx="60960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2000"/>
            </a:srgbClr>
          </a:solidFill>
          <a:ln w="9525">
            <a:solidFill>
              <a:srgbClr val="B06F61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C1F070-1103-4713-AD6D-B4973E7C789F}"/>
              </a:ext>
            </a:extLst>
          </p:cNvPr>
          <p:cNvSpPr>
            <a:spLocks noGrp="1"/>
          </p:cNvSpPr>
          <p:nvPr/>
        </p:nvSpPr>
        <p:spPr>
          <a:xfrm>
            <a:off x="3676650" y="38671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删除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5D3815-F532-4B67-A891-13B40B040CC7}"/>
              </a:ext>
            </a:extLst>
          </p:cNvPr>
          <p:cNvSpPr>
            <a:spLocks noGrp="1"/>
          </p:cNvSpPr>
          <p:nvPr/>
        </p:nvSpPr>
        <p:spPr>
          <a:xfrm>
            <a:off x="6667500" y="2076450"/>
            <a:ext cx="4381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D243ED-B4E3-47F1-A095-45EE915F59CC}"/>
              </a:ext>
            </a:extLst>
          </p:cNvPr>
          <p:cNvSpPr>
            <a:spLocks noGrp="1"/>
          </p:cNvSpPr>
          <p:nvPr/>
        </p:nvSpPr>
        <p:spPr>
          <a:xfrm>
            <a:off x="8820150" y="2076450"/>
            <a:ext cx="4381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CB2F51F-EA03-4D2C-924B-F6270D1B822D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1714500" cy="781050"/>
          </a:xfrm>
          <a:prstGeom prst="roundRect">
            <a:avLst>
              <a:gd name="adj" fmla="val 19512"/>
            </a:avLst>
          </a:prstGeom>
          <a:solidFill>
            <a:srgbClr val="7189A6">
              <a:alpha val="14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AA677D-DCBC-4BA4-8E7E-21621D1DF295}"/>
              </a:ext>
            </a:extLst>
          </p:cNvPr>
          <p:cNvSpPr>
            <a:spLocks noGrp="1"/>
          </p:cNvSpPr>
          <p:nvPr/>
        </p:nvSpPr>
        <p:spPr>
          <a:xfrm>
            <a:off x="5067300" y="192405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内存会话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7C720C8-7B82-4EAE-9A69-0061CF9B5B9C}"/>
              </a:ext>
            </a:extLst>
          </p:cNvPr>
          <p:cNvSpPr>
            <a:spLocks noGrp="1"/>
          </p:cNvSpPr>
          <p:nvPr/>
        </p:nvSpPr>
        <p:spPr>
          <a:xfrm>
            <a:off x="7105650" y="1695450"/>
            <a:ext cx="1714500" cy="781050"/>
          </a:xfrm>
          <a:prstGeom prst="roundRect">
            <a:avLst>
              <a:gd name="adj" fmla="val 19512"/>
            </a:avLst>
          </a:prstGeom>
          <a:solidFill>
            <a:srgbClr val="7189A6">
              <a:alpha val="14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5CA557-835D-473B-9F44-A065D070766D}"/>
              </a:ext>
            </a:extLst>
          </p:cNvPr>
          <p:cNvSpPr>
            <a:spLocks noGrp="1"/>
          </p:cNvSpPr>
          <p:nvPr/>
        </p:nvSpPr>
        <p:spPr>
          <a:xfrm>
            <a:off x="7219950" y="192405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主动保存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86B3995-3386-4699-B743-5D00867E346A}"/>
              </a:ext>
            </a:extLst>
          </p:cNvPr>
          <p:cNvSpPr>
            <a:spLocks noGrp="1"/>
          </p:cNvSpPr>
          <p:nvPr/>
        </p:nvSpPr>
        <p:spPr>
          <a:xfrm>
            <a:off x="9258300" y="1695450"/>
            <a:ext cx="1714500" cy="781050"/>
          </a:xfrm>
          <a:prstGeom prst="roundRect">
            <a:avLst>
              <a:gd name="adj" fmla="val 19512"/>
            </a:avLst>
          </a:prstGeom>
          <a:solidFill>
            <a:srgbClr val="7F9B86">
              <a:alpha val="14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7C8441-EA59-4124-B776-AA08954CC804}"/>
              </a:ext>
            </a:extLst>
          </p:cNvPr>
          <p:cNvSpPr>
            <a:spLocks noGrp="1"/>
          </p:cNvSpPr>
          <p:nvPr/>
        </p:nvSpPr>
        <p:spPr>
          <a:xfrm>
            <a:off x="9372600" y="192405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relationalStore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F091974-EF85-4E7F-BC67-FBC58B3A4783}"/>
              </a:ext>
            </a:extLst>
          </p:cNvPr>
          <p:cNvSpPr>
            <a:spLocks noGrp="1"/>
          </p:cNvSpPr>
          <p:nvPr/>
        </p:nvSpPr>
        <p:spPr>
          <a:xfrm>
            <a:off x="4953000" y="3114675"/>
            <a:ext cx="2076450" cy="1428750"/>
          </a:xfrm>
          <a:prstGeom prst="roundRect">
            <a:avLst>
              <a:gd name="adj" fmla="val 16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07DB369-3B3E-482D-A749-91D2B9D2FDFF}"/>
              </a:ext>
            </a:extLst>
          </p:cNvPr>
          <p:cNvSpPr>
            <a:spLocks noGrp="1"/>
          </p:cNvSpPr>
          <p:nvPr/>
        </p:nvSpPr>
        <p:spPr>
          <a:xfrm>
            <a:off x="4953000" y="3048000"/>
            <a:ext cx="2076450" cy="1428750"/>
          </a:xfrm>
          <a:prstGeom prst="roundRect">
            <a:avLst>
              <a:gd name="adj" fmla="val 16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07C9DD4-E719-410A-B8B3-E6F002C0E8B4}"/>
              </a:ext>
            </a:extLst>
          </p:cNvPr>
          <p:cNvSpPr>
            <a:spLocks noGrp="1"/>
          </p:cNvSpPr>
          <p:nvPr/>
        </p:nvSpPr>
        <p:spPr>
          <a:xfrm>
            <a:off x="5143500" y="3257550"/>
            <a:ext cx="76200" cy="1009650"/>
          </a:xfrm>
          <a:prstGeom prst="roundRect">
            <a:avLst>
              <a:gd name="adj" fmla="val 50000"/>
            </a:avLst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D9762C-BAEF-4D60-8A2C-783EAE7D7DB9}"/>
              </a:ext>
            </a:extLst>
          </p:cNvPr>
          <p:cNvSpPr>
            <a:spLocks noGrp="1"/>
          </p:cNvSpPr>
          <p:nvPr/>
        </p:nvSpPr>
        <p:spPr>
          <a:xfrm>
            <a:off x="5372100" y="32575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收藏状态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E04507-C50C-4DF6-8287-5DF9157386DB}"/>
              </a:ext>
            </a:extLst>
          </p:cNvPr>
          <p:cNvSpPr>
            <a:spLocks noGrp="1"/>
          </p:cNvSpPr>
          <p:nvPr/>
        </p:nvSpPr>
        <p:spPr>
          <a:xfrm>
            <a:off x="5372100" y="3676650"/>
            <a:ext cx="142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点击即切换；持久化失败自动回滚。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21C726-1E4E-4C19-AAEF-A15418DDD3A3}"/>
              </a:ext>
            </a:extLst>
          </p:cNvPr>
          <p:cNvSpPr>
            <a:spLocks noGrp="1"/>
          </p:cNvSpPr>
          <p:nvPr/>
        </p:nvSpPr>
        <p:spPr>
          <a:xfrm>
            <a:off x="7200900" y="3114675"/>
            <a:ext cx="2076450" cy="1428750"/>
          </a:xfrm>
          <a:prstGeom prst="roundRect">
            <a:avLst>
              <a:gd name="adj" fmla="val 16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6345737-6343-40AE-A76B-35A796C09C05}"/>
              </a:ext>
            </a:extLst>
          </p:cNvPr>
          <p:cNvSpPr>
            <a:spLocks noGrp="1"/>
          </p:cNvSpPr>
          <p:nvPr/>
        </p:nvSpPr>
        <p:spPr>
          <a:xfrm>
            <a:off x="7200900" y="3048000"/>
            <a:ext cx="2076450" cy="1428750"/>
          </a:xfrm>
          <a:prstGeom prst="roundRect">
            <a:avLst>
              <a:gd name="adj" fmla="val 16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984FBF6-4BF6-4A94-9CDB-209B8F6B4D47}"/>
              </a:ext>
            </a:extLst>
          </p:cNvPr>
          <p:cNvSpPr>
            <a:spLocks noGrp="1"/>
          </p:cNvSpPr>
          <p:nvPr/>
        </p:nvSpPr>
        <p:spPr>
          <a:xfrm>
            <a:off x="7391400" y="3257550"/>
            <a:ext cx="76200" cy="100965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EFA891-432E-4BD6-AADA-16031E7944A8}"/>
              </a:ext>
            </a:extLst>
          </p:cNvPr>
          <p:cNvSpPr>
            <a:spLocks noGrp="1"/>
          </p:cNvSpPr>
          <p:nvPr/>
        </p:nvSpPr>
        <p:spPr>
          <a:xfrm>
            <a:off x="7620000" y="32575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打开报告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142B14F-9F58-4BA0-9B6D-8ABD1E427E06}"/>
              </a:ext>
            </a:extLst>
          </p:cNvPr>
          <p:cNvSpPr>
            <a:spLocks noGrp="1"/>
          </p:cNvSpPr>
          <p:nvPr/>
        </p:nvSpPr>
        <p:spPr>
          <a:xfrm>
            <a:off x="7620000" y="3676650"/>
            <a:ext cx="142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最近记录按保存时间倒序，按</a:t>
            </a:r>
            <a:r>
              <a:rPr sz="1275" b="0" dirty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 ID </a:t>
            </a:r>
            <a:r>
              <a:rPr sz="1275" b="0" dirty="0" err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去重</a:t>
            </a:r>
            <a:r>
              <a:rPr sz="1275" b="0" dirty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64AFD84-9118-4B79-A3CE-A034B4895C5C}"/>
              </a:ext>
            </a:extLst>
          </p:cNvPr>
          <p:cNvSpPr>
            <a:spLocks noGrp="1"/>
          </p:cNvSpPr>
          <p:nvPr/>
        </p:nvSpPr>
        <p:spPr>
          <a:xfrm>
            <a:off x="9448800" y="3114675"/>
            <a:ext cx="2133600" cy="1428750"/>
          </a:xfrm>
          <a:prstGeom prst="roundRect">
            <a:avLst>
              <a:gd name="adj" fmla="val 16000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40E5F2A-587B-4BC3-B671-9E7E80171258}"/>
              </a:ext>
            </a:extLst>
          </p:cNvPr>
          <p:cNvSpPr>
            <a:spLocks noGrp="1"/>
          </p:cNvSpPr>
          <p:nvPr/>
        </p:nvSpPr>
        <p:spPr>
          <a:xfrm>
            <a:off x="9448800" y="3048000"/>
            <a:ext cx="2133600" cy="1428750"/>
          </a:xfrm>
          <a:prstGeom prst="roundRect">
            <a:avLst>
              <a:gd name="adj" fmla="val 16000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BA1A59A-7183-4CAE-901C-04DA0D12D008}"/>
              </a:ext>
            </a:extLst>
          </p:cNvPr>
          <p:cNvSpPr>
            <a:spLocks noGrp="1"/>
          </p:cNvSpPr>
          <p:nvPr/>
        </p:nvSpPr>
        <p:spPr>
          <a:xfrm>
            <a:off x="9639300" y="3257550"/>
            <a:ext cx="76200" cy="1009650"/>
          </a:xfrm>
          <a:prstGeom prst="roundRect">
            <a:avLst>
              <a:gd name="adj" fmla="val 50000"/>
            </a:avLst>
          </a:prstGeom>
          <a:solidFill>
            <a:srgbClr val="B06F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1F5DB-BDBD-40BB-B6B5-6AE1179143EF}"/>
              </a:ext>
            </a:extLst>
          </p:cNvPr>
          <p:cNvSpPr>
            <a:spLocks noGrp="1"/>
          </p:cNvSpPr>
          <p:nvPr/>
        </p:nvSpPr>
        <p:spPr>
          <a:xfrm>
            <a:off x="9867900" y="32575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删除 / 清空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B30BA22-B683-4CAE-A26D-177FC1D7FB66}"/>
              </a:ext>
            </a:extLst>
          </p:cNvPr>
          <p:cNvSpPr>
            <a:spLocks noGrp="1"/>
          </p:cNvSpPr>
          <p:nvPr/>
        </p:nvSpPr>
        <p:spPr>
          <a:xfrm>
            <a:off x="9867900" y="36766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二次确认；数据库失败时列表保持原状。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F65D710-3A0B-4493-A722-936E523903F1}"/>
              </a:ext>
            </a:extLst>
          </p:cNvPr>
          <p:cNvSpPr>
            <a:spLocks noGrp="1"/>
          </p:cNvSpPr>
          <p:nvPr/>
        </p:nvSpPr>
        <p:spPr>
          <a:xfrm>
            <a:off x="4953000" y="4857750"/>
            <a:ext cx="6629400" cy="1200150"/>
          </a:xfrm>
          <a:prstGeom prst="roundRect">
            <a:avLst>
              <a:gd name="adj" fmla="val 17778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463FBE-0EA7-4FAD-97D8-E02BFAACCEBD}"/>
              </a:ext>
            </a:extLst>
          </p:cNvPr>
          <p:cNvSpPr>
            <a:spLocks noGrp="1"/>
          </p:cNvSpPr>
          <p:nvPr/>
        </p:nvSpPr>
        <p:spPr>
          <a:xfrm>
            <a:off x="5200650" y="50673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容量策略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06B73E-A0F6-4BC7-81B4-A8E411D3BC1C}"/>
              </a:ext>
            </a:extLst>
          </p:cNvPr>
          <p:cNvSpPr>
            <a:spLocks noGrp="1"/>
          </p:cNvSpPr>
          <p:nvPr/>
        </p:nvSpPr>
        <p:spPr>
          <a:xfrm>
            <a:off x="6419850" y="50673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最多 200 条  ·  优先淘汰最早未收藏记录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7782224-434B-407C-BB92-01589B8D3455}"/>
              </a:ext>
            </a:extLst>
          </p:cNvPr>
          <p:cNvSpPr>
            <a:spLocks noGrp="1"/>
          </p:cNvSpPr>
          <p:nvPr/>
        </p:nvSpPr>
        <p:spPr>
          <a:xfrm>
            <a:off x="5200650" y="54673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E68C15B-43E7-4491-AA2C-33ECA3A00AD4}"/>
              </a:ext>
            </a:extLst>
          </p:cNvPr>
          <p:cNvSpPr>
            <a:spLocks noGrp="1"/>
          </p:cNvSpPr>
          <p:nvPr/>
        </p:nvSpPr>
        <p:spPr>
          <a:xfrm>
            <a:off x="5276850" y="5467350"/>
            <a:ext cx="97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即时反馈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7354CE6-05FE-4475-BADE-561C40F62BF5}"/>
              </a:ext>
            </a:extLst>
          </p:cNvPr>
          <p:cNvSpPr>
            <a:spLocks noGrp="1"/>
          </p:cNvSpPr>
          <p:nvPr/>
        </p:nvSpPr>
        <p:spPr>
          <a:xfrm>
            <a:off x="6419850" y="5524500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→ 成功确认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CDAB565-B62C-4FF1-B2ED-57F1996E9145}"/>
              </a:ext>
            </a:extLst>
          </p:cNvPr>
          <p:cNvSpPr>
            <a:spLocks noGrp="1"/>
          </p:cNvSpPr>
          <p:nvPr/>
        </p:nvSpPr>
        <p:spPr>
          <a:xfrm>
            <a:off x="7677150" y="5524500"/>
            <a:ext cx="1200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/ 失败回滚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00D4E4-1734-4764-B5D6-E430E39BD46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5F5B67-F87E-4C54-A833-64566AEA8223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9 / 15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0D2347D-2FD2-FCFD-BFD3-AC41AB444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12" y="1588226"/>
            <a:ext cx="2039476" cy="448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7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AE3084A2-7325-44C4-ACDA-B5C5E76C7F9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434C5F-9C93-43E3-9943-DFDAEE40742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语义配色让操作层级一眼可辨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9C9141-AA91-409F-B829-5FF0B6B9807C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5BE4EA2-85FA-46BF-AF1E-ACDBEDC98A02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7010400" cy="3105150"/>
          </a:xfrm>
          <a:prstGeom prst="roundRect">
            <a:avLst>
              <a:gd name="adj" fmla="val 7362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115D7EA-2EC6-4AF8-B98B-094C2CDAAEE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010400" cy="3105150"/>
          </a:xfrm>
          <a:prstGeom prst="roundRect">
            <a:avLst>
              <a:gd name="adj" fmla="val 7362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7D0616-9CE5-4D82-8B5F-0DE45D8A6A81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悬浮玻璃 Dock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26E1730-7810-4504-B18B-027CFBF509A0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6210300" cy="1428750"/>
          </a:xfrm>
          <a:prstGeom prst="roundRect">
            <a:avLst>
              <a:gd name="adj" fmla="val 1600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3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EE430B-22EE-47EB-86B1-BD694059EE9A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800100" cy="590550"/>
          </a:xfrm>
          <a:prstGeom prst="roundRect">
            <a:avLst>
              <a:gd name="adj" fmla="val 25806"/>
            </a:avLst>
          </a:prstGeom>
          <a:solidFill>
            <a:srgbClr val="7189A6"/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5A39C0-CE43-4A49-8161-C6E93FFFEA1C}"/>
              </a:ext>
            </a:extLst>
          </p:cNvPr>
          <p:cNvSpPr>
            <a:spLocks noGrp="1"/>
          </p:cNvSpPr>
          <p:nvPr/>
        </p:nvSpPr>
        <p:spPr>
          <a:xfrm>
            <a:off x="1333500" y="27051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HM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ACAB4E-F66C-4CF7-B65C-9D35B89E3901}"/>
              </a:ext>
            </a:extLst>
          </p:cNvPr>
          <p:cNvSpPr>
            <a:spLocks noGrp="1"/>
          </p:cNvSpPr>
          <p:nvPr/>
        </p:nvSpPr>
        <p:spPr>
          <a:xfrm>
            <a:off x="1333500" y="32766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0456772-6B98-45EB-9094-97338A7E75F0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800100" cy="590550"/>
          </a:xfrm>
          <a:prstGeom prst="roundRect">
            <a:avLst>
              <a:gd name="adj" fmla="val 25806"/>
            </a:avLst>
          </a:prstGeom>
          <a:solidFill>
            <a:srgbClr val="A7B2BE">
              <a:alpha val="2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EC156B-81DE-4994-BD54-261943886CF7}"/>
              </a:ext>
            </a:extLst>
          </p:cNvPr>
          <p:cNvSpPr>
            <a:spLocks noGrp="1"/>
          </p:cNvSpPr>
          <p:nvPr/>
        </p:nvSpPr>
        <p:spPr>
          <a:xfrm>
            <a:off x="2800350" y="27051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5CBA4-6BC9-4558-BAE4-8AD0B29CA4C7}"/>
              </a:ext>
            </a:extLst>
          </p:cNvPr>
          <p:cNvSpPr>
            <a:spLocks noGrp="1"/>
          </p:cNvSpPr>
          <p:nvPr/>
        </p:nvSpPr>
        <p:spPr>
          <a:xfrm>
            <a:off x="2800350" y="32766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智能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B2E083F-2CF4-400D-84EA-01F6517104CF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800100" cy="590550"/>
          </a:xfrm>
          <a:prstGeom prst="roundRect">
            <a:avLst>
              <a:gd name="adj" fmla="val 25806"/>
            </a:avLst>
          </a:prstGeom>
          <a:solidFill>
            <a:srgbClr val="A7B2BE">
              <a:alpha val="2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7F7E50-C2EC-4F74-B8AF-2320B8767909}"/>
              </a:ext>
            </a:extLst>
          </p:cNvPr>
          <p:cNvSpPr>
            <a:spLocks noGrp="1"/>
          </p:cNvSpPr>
          <p:nvPr/>
        </p:nvSpPr>
        <p:spPr>
          <a:xfrm>
            <a:off x="4267200" y="27051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83E784-0632-42FC-AD3C-48EABBDDFECC}"/>
              </a:ext>
            </a:extLst>
          </p:cNvPr>
          <p:cNvSpPr>
            <a:spLocks noGrp="1"/>
          </p:cNvSpPr>
          <p:nvPr/>
        </p:nvSpPr>
        <p:spPr>
          <a:xfrm>
            <a:off x="4267200" y="32766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6D2FFF-9DB1-4B5C-8B77-CDBEE3596ED3}"/>
              </a:ext>
            </a:extLst>
          </p:cNvPr>
          <p:cNvSpPr>
            <a:spLocks noGrp="1"/>
          </p:cNvSpPr>
          <p:nvPr/>
        </p:nvSpPr>
        <p:spPr>
          <a:xfrm>
            <a:off x="5734050" y="2571750"/>
            <a:ext cx="800100" cy="590550"/>
          </a:xfrm>
          <a:prstGeom prst="roundRect">
            <a:avLst>
              <a:gd name="adj" fmla="val 25806"/>
            </a:avLst>
          </a:prstGeom>
          <a:solidFill>
            <a:srgbClr val="A7B2BE">
              <a:alpha val="2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41DDCD-D163-4B8D-9912-2178D30BC207}"/>
              </a:ext>
            </a:extLst>
          </p:cNvPr>
          <p:cNvSpPr>
            <a:spLocks noGrp="1"/>
          </p:cNvSpPr>
          <p:nvPr/>
        </p:nvSpPr>
        <p:spPr>
          <a:xfrm>
            <a:off x="5734050" y="27051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ST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4AD16D-95FD-46C5-BC07-3319F1F8E780}"/>
              </a:ext>
            </a:extLst>
          </p:cNvPr>
          <p:cNvSpPr>
            <a:spLocks noGrp="1"/>
          </p:cNvSpPr>
          <p:nvPr/>
        </p:nvSpPr>
        <p:spPr>
          <a:xfrm>
            <a:off x="5734050" y="32766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0DF119-D489-4AFA-8FBD-D5E7505A1D89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同一套圆角、边框、阴影与按压反馈贯穿首页、报告和记录页。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2D46A45-94AE-4BA0-907B-BE965E9654D4}"/>
              </a:ext>
            </a:extLst>
          </p:cNvPr>
          <p:cNvSpPr>
            <a:spLocks noGrp="1"/>
          </p:cNvSpPr>
          <p:nvPr/>
        </p:nvSpPr>
        <p:spPr>
          <a:xfrm>
            <a:off x="7848600" y="1533525"/>
            <a:ext cx="3733800" cy="3105150"/>
          </a:xfrm>
          <a:prstGeom prst="roundRect">
            <a:avLst>
              <a:gd name="adj" fmla="val 7362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7EA8A3D-3356-42AB-B3F1-0E2F55CDEE02}"/>
              </a:ext>
            </a:extLst>
          </p:cNvPr>
          <p:cNvSpPr>
            <a:spLocks noGrp="1"/>
          </p:cNvSpPr>
          <p:nvPr/>
        </p:nvSpPr>
        <p:spPr>
          <a:xfrm>
            <a:off x="7848600" y="1466850"/>
            <a:ext cx="3733800" cy="3105150"/>
          </a:xfrm>
          <a:prstGeom prst="roundRect">
            <a:avLst>
              <a:gd name="adj" fmla="val 7362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A7B2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93511A-25B8-4256-888A-A9391BFBA057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主题与光效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CC4AEEC-48C3-4B37-8DE6-A7FBC2244C90}"/>
              </a:ext>
            </a:extLst>
          </p:cNvPr>
          <p:cNvSpPr>
            <a:spLocks noGrp="1"/>
          </p:cNvSpPr>
          <p:nvPr/>
        </p:nvSpPr>
        <p:spPr>
          <a:xfrm>
            <a:off x="8115300" y="222885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AE498E-422E-4722-B8D0-F8BF3D55B7C2}"/>
              </a:ext>
            </a:extLst>
          </p:cNvPr>
          <p:cNvSpPr>
            <a:spLocks noGrp="1"/>
          </p:cNvSpPr>
          <p:nvPr/>
        </p:nvSpPr>
        <p:spPr>
          <a:xfrm>
            <a:off x="8191500" y="222885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E1F62DA-B47A-4F9C-BDD6-0D536EF2ED70}"/>
              </a:ext>
            </a:extLst>
          </p:cNvPr>
          <p:cNvSpPr>
            <a:spLocks noGrp="1"/>
          </p:cNvSpPr>
          <p:nvPr/>
        </p:nvSpPr>
        <p:spPr>
          <a:xfrm>
            <a:off x="8115300" y="27813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D17C01-710E-4008-978B-84E397AEF2FB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LIGHT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10C631D-83C7-4121-9A6B-1BCE82D5D410}"/>
              </a:ext>
            </a:extLst>
          </p:cNvPr>
          <p:cNvSpPr>
            <a:spLocks noGrp="1"/>
          </p:cNvSpPr>
          <p:nvPr/>
        </p:nvSpPr>
        <p:spPr>
          <a:xfrm>
            <a:off x="8115300" y="333375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101216"/>
          </a:solidFill>
          <a:ln w="9525">
            <a:solidFill>
              <a:srgbClr val="1012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807E71-1560-42A2-8A43-3E613C195E9F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DARK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5831FB2-6F1B-43AF-BFED-C071DE8C0E92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光效：FULL / REDUCED / OFF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ABED01-925C-486A-AB12-8B4B7E7E49F1}"/>
              </a:ext>
            </a:extLst>
          </p:cNvPr>
          <p:cNvSpPr>
            <a:spLocks noGrp="1"/>
          </p:cNvSpPr>
          <p:nvPr/>
        </p:nvSpPr>
        <p:spPr>
          <a:xfrm>
            <a:off x="9372600" y="310515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85" lnSpcReduction="10000"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状态同时使用文字与颜色，</a:t>
            </a:r>
          </a:p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不依赖光晕表达含义。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F799E57-19D8-4184-BBFC-362494E6E657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2514600" cy="876300"/>
          </a:xfrm>
          <a:prstGeom prst="roundRect">
            <a:avLst>
              <a:gd name="adj" fmla="val 17391"/>
            </a:avLst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9E7726A-8360-426B-BA0B-22073A6BD7B2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285750" cy="285750"/>
          </a:xfrm>
          <a:prstGeom prst="ellipse">
            <a:avLst/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06EA51-ED0E-46CF-8AB9-85EA0787D1D8}"/>
              </a:ext>
            </a:extLst>
          </p:cNvPr>
          <p:cNvSpPr>
            <a:spLocks noGrp="1"/>
          </p:cNvSpPr>
          <p:nvPr/>
        </p:nvSpPr>
        <p:spPr>
          <a:xfrm>
            <a:off x="1276350" y="52197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主要操作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BC46CC3-CE29-421B-90BD-6AB18C9929C3}"/>
              </a:ext>
            </a:extLst>
          </p:cNvPr>
          <p:cNvSpPr>
            <a:spLocks noGrp="1"/>
          </p:cNvSpPr>
          <p:nvPr/>
        </p:nvSpPr>
        <p:spPr>
          <a:xfrm>
            <a:off x="3352800" y="4953000"/>
            <a:ext cx="2514600" cy="876300"/>
          </a:xfrm>
          <a:prstGeom prst="roundRect">
            <a:avLst>
              <a:gd name="adj" fmla="val 17391"/>
            </a:avLst>
          </a:prstGeom>
          <a:solidFill>
            <a:srgbClr val="7F9B86">
              <a:alpha val="18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4523249-8E0A-4B34-89BA-83B77FC936C0}"/>
              </a:ext>
            </a:extLst>
          </p:cNvPr>
          <p:cNvSpPr>
            <a:spLocks noGrp="1"/>
          </p:cNvSpPr>
          <p:nvPr/>
        </p:nvSpPr>
        <p:spPr>
          <a:xfrm>
            <a:off x="3562350" y="5219700"/>
            <a:ext cx="285750" cy="285750"/>
          </a:xfrm>
          <a:prstGeom prst="ellipse">
            <a:avLst/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A3089B-6861-4552-B6CE-03F5F043E642}"/>
              </a:ext>
            </a:extLst>
          </p:cNvPr>
          <p:cNvSpPr>
            <a:spLocks noGrp="1"/>
          </p:cNvSpPr>
          <p:nvPr/>
        </p:nvSpPr>
        <p:spPr>
          <a:xfrm>
            <a:off x="4019550" y="52197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收藏 / 成功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606E3EA-2382-40AD-ACE6-F8FBBC3F371F}"/>
              </a:ext>
            </a:extLst>
          </p:cNvPr>
          <p:cNvSpPr>
            <a:spLocks noGrp="1"/>
          </p:cNvSpPr>
          <p:nvPr/>
        </p:nvSpPr>
        <p:spPr>
          <a:xfrm>
            <a:off x="6096000" y="4953000"/>
            <a:ext cx="2514600" cy="876300"/>
          </a:xfrm>
          <a:prstGeom prst="roundRect">
            <a:avLst>
              <a:gd name="adj" fmla="val 17391"/>
            </a:avLst>
          </a:prstGeom>
          <a:solidFill>
            <a:srgbClr val="B06F61">
              <a:alpha val="18000"/>
            </a:srgbClr>
          </a:solidFill>
          <a:ln w="9525">
            <a:solidFill>
              <a:srgbClr val="B06F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11FD9748-597F-4153-AE5B-F5A905A3A987}"/>
              </a:ext>
            </a:extLst>
          </p:cNvPr>
          <p:cNvSpPr>
            <a:spLocks noGrp="1"/>
          </p:cNvSpPr>
          <p:nvPr/>
        </p:nvSpPr>
        <p:spPr>
          <a:xfrm>
            <a:off x="6305550" y="5219700"/>
            <a:ext cx="285750" cy="285750"/>
          </a:xfrm>
          <a:prstGeom prst="ellipse">
            <a:avLst/>
          </a:prstGeom>
          <a:solidFill>
            <a:srgbClr val="B06F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AC8C653-18F8-445A-A2F6-A3BB080E3DDC}"/>
              </a:ext>
            </a:extLst>
          </p:cNvPr>
          <p:cNvSpPr>
            <a:spLocks noGrp="1"/>
          </p:cNvSpPr>
          <p:nvPr/>
        </p:nvSpPr>
        <p:spPr>
          <a:xfrm>
            <a:off x="6762750" y="52197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删除 / 风险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5DA41D1-F3E7-4D8D-BFB8-9BB79C3844AE}"/>
              </a:ext>
            </a:extLst>
          </p:cNvPr>
          <p:cNvSpPr>
            <a:spLocks noGrp="1"/>
          </p:cNvSpPr>
          <p:nvPr/>
        </p:nvSpPr>
        <p:spPr>
          <a:xfrm>
            <a:off x="8839200" y="4953000"/>
            <a:ext cx="2514600" cy="876300"/>
          </a:xfrm>
          <a:prstGeom prst="roundRect">
            <a:avLst>
              <a:gd name="adj" fmla="val 17391"/>
            </a:avLst>
          </a:prstGeom>
          <a:solidFill>
            <a:srgbClr val="A7B2BE">
              <a:alpha val="18000"/>
            </a:srgbClr>
          </a:solidFill>
          <a:ln w="9525">
            <a:solidFill>
              <a:srgbClr val="A7B2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D8359B74-9A8D-408D-9448-3AB6A14EF96D}"/>
              </a:ext>
            </a:extLst>
          </p:cNvPr>
          <p:cNvSpPr>
            <a:spLocks noGrp="1"/>
          </p:cNvSpPr>
          <p:nvPr/>
        </p:nvSpPr>
        <p:spPr>
          <a:xfrm>
            <a:off x="9048750" y="5219700"/>
            <a:ext cx="285750" cy="285750"/>
          </a:xfrm>
          <a:prstGeom prst="ellipse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21659C-70A3-4973-B604-58C0714F18C4}"/>
              </a:ext>
            </a:extLst>
          </p:cNvPr>
          <p:cNvSpPr>
            <a:spLocks noGrp="1"/>
          </p:cNvSpPr>
          <p:nvPr/>
        </p:nvSpPr>
        <p:spPr>
          <a:xfrm>
            <a:off x="9505950" y="52197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返回 / 次要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AC95716-7A2A-4BFA-A781-A5C42271737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D888C1-D3C9-489B-B039-452AC86563C0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24553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136BC641-4C7C-43BC-B848-F578B8E566C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93471A-005F-4694-A403-EA815467EDE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AI 如何使用：在线补充，本地规则兜底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517E4-761A-42A5-96C2-5909FDBC5435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15B0649-5BBA-4678-88E0-27F41A1613F2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3429000" cy="1600200"/>
          </a:xfrm>
          <a:prstGeom prst="roundRect">
            <a:avLst>
              <a:gd name="adj" fmla="val 14286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69BBEB9-750F-4030-B988-1D821AC787D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429000" cy="1600200"/>
          </a:xfrm>
          <a:prstGeom prst="roundRect">
            <a:avLst>
              <a:gd name="adj" fmla="val 14286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ADD6F5D-0B6B-405F-B778-106EE711CF9E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76200" cy="1181100"/>
          </a:xfrm>
          <a:prstGeom prst="roundRect">
            <a:avLst>
              <a:gd name="adj" fmla="val 50000"/>
            </a:avLst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85C37F-7E81-4EA2-9C47-A1AAB5F25936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本地诊断基线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03D679-C1BD-45F2-9E01-0C1D6DD67F7A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2781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日志先由本地规则分类并生成可解释报告，无需网络和密钥。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027ED61-99B7-4D19-9A76-ED8ABE625D93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3429000" cy="2038350"/>
          </a:xfrm>
          <a:prstGeom prst="roundRect">
            <a:avLst>
              <a:gd name="adj" fmla="val 11215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BF4FC75-7EBF-43E9-96AC-E99897A0CDA4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3429000" cy="2038350"/>
          </a:xfrm>
          <a:prstGeom prst="roundRect">
            <a:avLst>
              <a:gd name="adj" fmla="val 1121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C5BDD70-15FB-46BB-B82A-14097D1F44CB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FCF7EE-74A6-497B-945F-E5040A962ED3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AI 补充诊断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48CDD5-6EF9-46F4-AF40-866A3F8CB891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27813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用户配置接口、模型和 API Key；仅主动提交的日志进入 OpenAI 兼容接口。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D3C9B6-03F2-4271-B0BF-2E206A1A4DB7}"/>
              </a:ext>
            </a:extLst>
          </p:cNvPr>
          <p:cNvSpPr>
            <a:spLocks noGrp="1"/>
          </p:cNvSpPr>
          <p:nvPr/>
        </p:nvSpPr>
        <p:spPr>
          <a:xfrm>
            <a:off x="4343400" y="2686050"/>
            <a:ext cx="6191250" cy="38100"/>
          </a:xfrm>
          <a:prstGeom prst="rect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E126FE-B865-4169-9552-1E58B3887905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14668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0FDD48-D401-4BC7-BD86-9BEE78D6E913}"/>
              </a:ext>
            </a:extLst>
          </p:cNvPr>
          <p:cNvSpPr>
            <a:spLocks noGrp="1"/>
          </p:cNvSpPr>
          <p:nvPr/>
        </p:nvSpPr>
        <p:spPr>
          <a:xfrm>
            <a:off x="4552950" y="2381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01 配置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DFA98D-4FE8-4DD3-8969-57FF4F20D2FC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接口 / 模型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1C038AB-F55D-4FF2-837A-7629DB8CE06D}"/>
              </a:ext>
            </a:extLst>
          </p:cNvPr>
          <p:cNvSpPr>
            <a:spLocks noGrp="1"/>
          </p:cNvSpPr>
          <p:nvPr/>
        </p:nvSpPr>
        <p:spPr>
          <a:xfrm>
            <a:off x="6248400" y="2190750"/>
            <a:ext cx="14668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B80401-2FD1-4BC2-A528-21362E2E548F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02 提交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96D277-6DE1-4451-9D73-D9B59D76C585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脱敏日志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D8FC632-499F-4096-AECC-7945A257870A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14668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6DD76F-E16A-4FA3-950E-D983D397BFD5}"/>
              </a:ext>
            </a:extLst>
          </p:cNvPr>
          <p:cNvSpPr>
            <a:spLocks noGrp="1"/>
          </p:cNvSpPr>
          <p:nvPr/>
        </p:nvSpPr>
        <p:spPr>
          <a:xfrm>
            <a:off x="8134350" y="2381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03 生成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77B574-FD09-42CD-B720-388703ECAB30}"/>
              </a:ext>
            </a:extLst>
          </p:cNvPr>
          <p:cNvSpPr>
            <a:spLocks noGrp="1"/>
          </p:cNvSpPr>
          <p:nvPr/>
        </p:nvSpPr>
        <p:spPr>
          <a:xfrm>
            <a:off x="8134350" y="27241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补充建议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D686045-6BF9-437A-BBC9-81549AF5588F}"/>
              </a:ext>
            </a:extLst>
          </p:cNvPr>
          <p:cNvSpPr>
            <a:spLocks noGrp="1"/>
          </p:cNvSpPr>
          <p:nvPr/>
        </p:nvSpPr>
        <p:spPr>
          <a:xfrm>
            <a:off x="9829800" y="2190750"/>
            <a:ext cx="14668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21AE9E-200F-4FC2-AAB6-17FBB01D69D4}"/>
              </a:ext>
            </a:extLst>
          </p:cNvPr>
          <p:cNvSpPr>
            <a:spLocks noGrp="1"/>
          </p:cNvSpPr>
          <p:nvPr/>
        </p:nvSpPr>
        <p:spPr>
          <a:xfrm>
            <a:off x="9925050" y="2381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04 验证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C7AF3C-C020-4590-A7B2-030C5F65FD93}"/>
              </a:ext>
            </a:extLst>
          </p:cNvPr>
          <p:cNvSpPr>
            <a:spLocks noGrp="1"/>
          </p:cNvSpPr>
          <p:nvPr/>
        </p:nvSpPr>
        <p:spPr>
          <a:xfrm>
            <a:off x="9925050" y="27241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7E475A-FEF1-4526-A23D-4B7F102960DA}"/>
              </a:ext>
            </a:extLst>
          </p:cNvPr>
          <p:cNvSpPr>
            <a:spLocks noGrp="1"/>
          </p:cNvSpPr>
          <p:nvPr/>
        </p:nvSpPr>
        <p:spPr>
          <a:xfrm>
            <a:off x="4457700" y="3638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可组合 Skill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577F997-E57A-41EC-8699-D6697730F9D7}"/>
              </a:ext>
            </a:extLst>
          </p:cNvPr>
          <p:cNvSpPr>
            <a:spLocks noGrp="1"/>
          </p:cNvSpPr>
          <p:nvPr/>
        </p:nvSpPr>
        <p:spPr>
          <a:xfrm>
            <a:off x="4457700" y="4095750"/>
            <a:ext cx="2800350" cy="323850"/>
          </a:xfrm>
          <a:prstGeom prst="roundRect">
            <a:avLst>
              <a:gd name="adj" fmla="val 50000"/>
            </a:avLst>
          </a:prstGeom>
          <a:solidFill>
            <a:srgbClr val="7189A6">
              <a:alpha val="15000"/>
            </a:srgbClr>
          </a:solidFill>
          <a:ln w="9525">
            <a:solidFill>
              <a:srgbClr val="7189A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FA1517-7A37-45A4-B22F-8C03CCAC1520}"/>
              </a:ext>
            </a:extLst>
          </p:cNvPr>
          <p:cNvSpPr>
            <a:spLocks noGrp="1"/>
          </p:cNvSpPr>
          <p:nvPr/>
        </p:nvSpPr>
        <p:spPr>
          <a:xfrm>
            <a:off x="4533900" y="40957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JSON Formatter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B52CF0D-DE70-4BF8-A010-33CB6A78B78A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2800350" cy="323850"/>
          </a:xfrm>
          <a:prstGeom prst="roundRect">
            <a:avLst>
              <a:gd name="adj" fmla="val 50000"/>
            </a:avLst>
          </a:prstGeom>
          <a:solidFill>
            <a:srgbClr val="B06F61">
              <a:alpha val="15000"/>
            </a:srgbClr>
          </a:solidFill>
          <a:ln w="9525">
            <a:solidFill>
              <a:srgbClr val="B06F61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6BB3EA-94C0-459F-A1DB-FEA17FA5B72E}"/>
              </a:ext>
            </a:extLst>
          </p:cNvPr>
          <p:cNvSpPr>
            <a:spLocks noGrp="1"/>
          </p:cNvSpPr>
          <p:nvPr/>
        </p:nvSpPr>
        <p:spPr>
          <a:xfrm>
            <a:off x="7600950" y="409575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Error Triage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1B0AAD0-4794-4082-8D69-7144D12E1DD7}"/>
              </a:ext>
            </a:extLst>
          </p:cNvPr>
          <p:cNvSpPr>
            <a:spLocks noGrp="1"/>
          </p:cNvSpPr>
          <p:nvPr/>
        </p:nvSpPr>
        <p:spPr>
          <a:xfrm>
            <a:off x="4457700" y="4876800"/>
            <a:ext cx="2800350" cy="323850"/>
          </a:xfrm>
          <a:prstGeom prst="roundRect">
            <a:avLst>
              <a:gd name="adj" fmla="val 50000"/>
            </a:avLst>
          </a:prstGeom>
          <a:solidFill>
            <a:srgbClr val="7F9B86">
              <a:alpha val="15000"/>
            </a:srgbClr>
          </a:solidFill>
          <a:ln w="9525">
            <a:solidFill>
              <a:srgbClr val="7F9B86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82030C-2FDF-4BB3-AF68-0864384F9A41}"/>
              </a:ext>
            </a:extLst>
          </p:cNvPr>
          <p:cNvSpPr>
            <a:spLocks noGrp="1"/>
          </p:cNvSpPr>
          <p:nvPr/>
        </p:nvSpPr>
        <p:spPr>
          <a:xfrm>
            <a:off x="4533900" y="4876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Report Writer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AEAE912-3774-48D3-B0A6-1DD32F4B444C}"/>
              </a:ext>
            </a:extLst>
          </p:cNvPr>
          <p:cNvSpPr>
            <a:spLocks noGrp="1"/>
          </p:cNvSpPr>
          <p:nvPr/>
        </p:nvSpPr>
        <p:spPr>
          <a:xfrm>
            <a:off x="7524750" y="4876800"/>
            <a:ext cx="2800350" cy="323850"/>
          </a:xfrm>
          <a:prstGeom prst="roundRect">
            <a:avLst>
              <a:gd name="adj" fmla="val 50000"/>
            </a:avLst>
          </a:prstGeom>
          <a:solidFill>
            <a:srgbClr val="5D6673">
              <a:alpha val="15000"/>
            </a:srgbClr>
          </a:solidFill>
          <a:ln w="9525">
            <a:solidFill>
              <a:srgbClr val="5D667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7CC80F-E716-43CF-BE50-5C623409DD43}"/>
              </a:ext>
            </a:extLst>
          </p:cNvPr>
          <p:cNvSpPr>
            <a:spLocks noGrp="1"/>
          </p:cNvSpPr>
          <p:nvPr/>
        </p:nvSpPr>
        <p:spPr>
          <a:xfrm>
            <a:off x="7600950" y="4876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Privacy Redactor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AD90F1E-20E8-4BCC-AE2B-3DAE4AAEF0C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34700" cy="400050"/>
          </a:xfrm>
          <a:prstGeom prst="roundRect">
            <a:avLst>
              <a:gd name="adj" fmla="val 28571"/>
            </a:avLst>
          </a:prstGeom>
          <a:solidFill>
            <a:srgbClr val="7F9B86">
              <a:alpha val="12000"/>
            </a:srgbClr>
          </a:solidFill>
          <a:ln w="9525">
            <a:solidFill>
              <a:srgbClr val="7F9B86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DC5C43-B9D8-4B52-A168-7D8E44486837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55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在线失败、超时或限流 → 返回本地诊断结果；API Key 仅保存在运行内存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E332BE-240B-4979-A611-1CD53950C43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C4A81B-66EB-4C9E-B671-06DD36BC9953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080724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BB458508-C6EB-4AA9-A082-2D73F4843D8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6B3997-0717-4444-8593-AD6B7E2E2C9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平台能力与桌面小组件均提供降级路径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B944E9-1953-4F0B-95E0-0022246CA496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B2C109-C80C-4B0A-9852-F5EDDC44CC6A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7CE466A-7C08-47B9-916F-1CFED727620F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261B54F-6679-4B3E-B4E5-F383F9E2FE41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666750" cy="666750"/>
          </a:xfrm>
          <a:prstGeom prst="ellipse">
            <a:avLst/>
          </a:prstGeom>
          <a:solidFill>
            <a:srgbClr val="7189A6">
              <a:alpha val="18000"/>
            </a:srgbClr>
          </a:solidFill>
          <a:ln w="9525">
            <a:solidFill>
              <a:srgbClr val="7189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7093C3-EC03-4C59-BAF9-9C590E5E1D38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2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C2CB3C-DC75-49B9-8D62-A38C30918988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光效与玻璃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AB2288-CC78-4B47-8457-82AA2EDBAE45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AA6C9E-F2AF-425E-B27A-6209DB5A551C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Dock、核心按钮、诊断卡片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5F006A-8AD9-482D-A95D-5A0A0A23831A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02E9B2-453E-4691-8835-0000345FB31F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关闭光效后仍保留文字与边框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93CFDAD-FC84-46F8-923E-2A365C173BE0}"/>
              </a:ext>
            </a:extLst>
          </p:cNvPr>
          <p:cNvSpPr>
            <a:spLocks noGrp="1"/>
          </p:cNvSpPr>
          <p:nvPr/>
        </p:nvSpPr>
        <p:spPr>
          <a:xfrm>
            <a:off x="4267200" y="1628775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418C814-8603-4519-9FCE-125FD14B3229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7CF0EC9-F1FE-42F7-823C-A2C78A347AC0}"/>
              </a:ext>
            </a:extLst>
          </p:cNvPr>
          <p:cNvSpPr>
            <a:spLocks noGrp="1"/>
          </p:cNvSpPr>
          <p:nvPr/>
        </p:nvSpPr>
        <p:spPr>
          <a:xfrm>
            <a:off x="4533900" y="1847850"/>
            <a:ext cx="666750" cy="666750"/>
          </a:xfrm>
          <a:prstGeom prst="ellipse">
            <a:avLst/>
          </a:prstGeom>
          <a:solidFill>
            <a:srgbClr val="7F9B86">
              <a:alpha val="18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B7EBAF-2B9A-4DEC-B81B-69B7E0AADBD8}"/>
              </a:ext>
            </a:extLst>
          </p:cNvPr>
          <p:cNvSpPr>
            <a:spLocks noGrp="1"/>
          </p:cNvSpPr>
          <p:nvPr/>
        </p:nvSpPr>
        <p:spPr>
          <a:xfrm>
            <a:off x="4533900" y="19526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879937-035A-45A8-9053-05F405B75819}"/>
              </a:ext>
            </a:extLst>
          </p:cNvPr>
          <p:cNvSpPr>
            <a:spLocks noGrp="1"/>
          </p:cNvSpPr>
          <p:nvPr/>
        </p:nvSpPr>
        <p:spPr>
          <a:xfrm>
            <a:off x="4533900" y="28003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Form Kit 小组件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49A555-C1DF-4F35-80D0-54972D091DD0}"/>
              </a:ext>
            </a:extLst>
          </p:cNvPr>
          <p:cNvSpPr>
            <a:spLocks noGrp="1"/>
          </p:cNvSpPr>
          <p:nvPr/>
        </p:nvSpPr>
        <p:spPr>
          <a:xfrm>
            <a:off x="4533900" y="3371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39E1A5-F820-4D0C-A747-2CB511C69959}"/>
              </a:ext>
            </a:extLst>
          </p:cNvPr>
          <p:cNvSpPr>
            <a:spLocks noGrp="1"/>
          </p:cNvSpPr>
          <p:nvPr/>
        </p:nvSpPr>
        <p:spPr>
          <a:xfrm>
            <a:off x="4533900" y="36576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桌面显示最近报告摘要并打开 App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03EE7-3A18-4D37-AB4A-43BD39550C1D}"/>
              </a:ext>
            </a:extLst>
          </p:cNvPr>
          <p:cNvSpPr>
            <a:spLocks noGrp="1"/>
          </p:cNvSpPr>
          <p:nvPr/>
        </p:nvSpPr>
        <p:spPr>
          <a:xfrm>
            <a:off x="4533900" y="4362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AD6F2E-6676-48FF-A620-40DC18DBDF8B}"/>
              </a:ext>
            </a:extLst>
          </p:cNvPr>
          <p:cNvSpPr>
            <a:spLocks noGrp="1"/>
          </p:cNvSpPr>
          <p:nvPr/>
        </p:nvSpPr>
        <p:spPr>
          <a:xfrm>
            <a:off x="4533900" y="46482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不可用时使用应用图标与记录页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554D2FD-447B-42EB-99BA-B538D01818CE}"/>
              </a:ext>
            </a:extLst>
          </p:cNvPr>
          <p:cNvSpPr>
            <a:spLocks noGrp="1"/>
          </p:cNvSpPr>
          <p:nvPr/>
        </p:nvSpPr>
        <p:spPr>
          <a:xfrm>
            <a:off x="7924800" y="1628775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EBC2D1E-BE1F-4010-BC80-1F346372CA9D}"/>
              </a:ext>
            </a:extLst>
          </p:cNvPr>
          <p:cNvSpPr>
            <a:spLocks noGrp="1"/>
          </p:cNvSpPr>
          <p:nvPr/>
        </p:nvSpPr>
        <p:spPr>
          <a:xfrm>
            <a:off x="7924800" y="1562100"/>
            <a:ext cx="3352800" cy="3848100"/>
          </a:xfrm>
          <a:prstGeom prst="roundRect">
            <a:avLst>
              <a:gd name="adj" fmla="val 681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B06F6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D67EF20-FBCE-43C0-B8B6-D59A5479988F}"/>
              </a:ext>
            </a:extLst>
          </p:cNvPr>
          <p:cNvSpPr>
            <a:spLocks noGrp="1"/>
          </p:cNvSpPr>
          <p:nvPr/>
        </p:nvSpPr>
        <p:spPr>
          <a:xfrm>
            <a:off x="8191500" y="1847850"/>
            <a:ext cx="666750" cy="666750"/>
          </a:xfrm>
          <a:prstGeom prst="ellipse">
            <a:avLst/>
          </a:prstGeom>
          <a:solidFill>
            <a:srgbClr val="B06F61">
              <a:alpha val="18000"/>
            </a:srgbClr>
          </a:solidFill>
          <a:ln w="9525">
            <a:solidFill>
              <a:srgbClr val="B06F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94A967-2316-4EAB-B8A3-77FB35642771}"/>
              </a:ext>
            </a:extLst>
          </p:cNvPr>
          <p:cNvSpPr>
            <a:spLocks noGrp="1"/>
          </p:cNvSpPr>
          <p:nvPr/>
        </p:nvSpPr>
        <p:spPr>
          <a:xfrm>
            <a:off x="8191500" y="1952625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2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27C04C-625A-4AE2-B98B-C9F586A5C578}"/>
              </a:ext>
            </a:extLst>
          </p:cNvPr>
          <p:cNvSpPr>
            <a:spLocks noGrp="1"/>
          </p:cNvSpPr>
          <p:nvPr/>
        </p:nvSpPr>
        <p:spPr>
          <a:xfrm>
            <a:off x="8191500" y="28003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多窗体验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6BA370D-0C93-4DDA-96E1-0E0166CA7AE9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100AE2-9813-4867-A7C3-46EA19FA46AA}"/>
              </a:ext>
            </a:extLst>
          </p:cNvPr>
          <p:cNvSpPr>
            <a:spLocks noGrp="1"/>
          </p:cNvSpPr>
          <p:nvPr/>
        </p:nvSpPr>
        <p:spPr>
          <a:xfrm>
            <a:off x="8191500" y="36576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独立闪控与诊断子窗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EB2CB4-1B9A-44C6-97CA-55C489FCD0B1}"/>
              </a:ext>
            </a:extLst>
          </p:cNvPr>
          <p:cNvSpPr>
            <a:spLocks noGrp="1"/>
          </p:cNvSpPr>
          <p:nvPr/>
        </p:nvSpPr>
        <p:spPr>
          <a:xfrm>
            <a:off x="8191500" y="4362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7ECB0B-BAD2-420F-903A-9B78DDBA44E9}"/>
              </a:ext>
            </a:extLst>
          </p:cNvPr>
          <p:cNvSpPr>
            <a:spLocks noGrp="1"/>
          </p:cNvSpPr>
          <p:nvPr/>
        </p:nvSpPr>
        <p:spPr>
          <a:xfrm>
            <a:off x="8191500" y="4648200"/>
            <a:ext cx="281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创建失败时回到页面内状态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6D5DFD2-5D2F-4751-9B33-0FDC4C6EFD28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668000" cy="457200"/>
          </a:xfrm>
          <a:prstGeom prst="roundRect">
            <a:avLst>
              <a:gd name="adj" fmla="val 25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939C41-482D-4782-8E5D-65B5CE6DD483}"/>
              </a:ext>
            </a:extLst>
          </p:cNvPr>
          <p:cNvSpPr>
            <a:spLocks noGrp="1"/>
          </p:cNvSpPr>
          <p:nvPr/>
        </p:nvSpPr>
        <p:spPr>
          <a:xfrm>
            <a:off x="800100" y="582930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平台差异不影响“文本 → 规则 → 报告 → 历史”主流程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78082F6-11F2-4C68-8D59-7DD363B42B4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Form Kit 编译与测试通过；桌面添加、刷新、点击仍待设备验证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48D501-F14A-41B2-879B-EC2F6C4A3A9B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70400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921F8739-14FF-4D20-A59A-5DF66107CCB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9CB7F4-6D16-4CCD-A909-D56539C4016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失败可恢复，数据不误删，敏感信息不落盘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38E049-283D-4567-8D45-893FA8591DC0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085B53-782A-464F-B280-9BDF70A157F3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正常路径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2F4BF8-1D2A-431F-B15E-A1C2132E0049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失败路径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DC96E8-3037-4D87-90FE-BC7B8C142919}"/>
              </a:ext>
            </a:extLst>
          </p:cNvPr>
          <p:cNvSpPr>
            <a:spLocks noGrp="1"/>
          </p:cNvSpPr>
          <p:nvPr/>
        </p:nvSpPr>
        <p:spPr>
          <a:xfrm>
            <a:off x="2419350" y="17907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C7DCC0-E710-4D30-91EE-73537455C141}"/>
              </a:ext>
            </a:extLst>
          </p:cNvPr>
          <p:cNvSpPr>
            <a:spLocks noGrp="1"/>
          </p:cNvSpPr>
          <p:nvPr/>
        </p:nvSpPr>
        <p:spPr>
          <a:xfrm>
            <a:off x="2419350" y="2019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IDLE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1BAC476-A754-4709-9801-2148B4CB16A2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54C42D-0177-4033-AE94-306D33B91958}"/>
              </a:ext>
            </a:extLst>
          </p:cNvPr>
          <p:cNvSpPr>
            <a:spLocks noGrp="1"/>
          </p:cNvSpPr>
          <p:nvPr/>
        </p:nvSpPr>
        <p:spPr>
          <a:xfrm>
            <a:off x="5029200" y="2019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LOADING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2C0C926-C8A3-4857-8327-4A1A1B049905}"/>
              </a:ext>
            </a:extLst>
          </p:cNvPr>
          <p:cNvSpPr>
            <a:spLocks noGrp="1"/>
          </p:cNvSpPr>
          <p:nvPr/>
        </p:nvSpPr>
        <p:spPr>
          <a:xfrm>
            <a:off x="7639050" y="17907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055D48-B702-4DC1-9554-58E57B51015F}"/>
              </a:ext>
            </a:extLst>
          </p:cNvPr>
          <p:cNvSpPr>
            <a:spLocks noGrp="1"/>
          </p:cNvSpPr>
          <p:nvPr/>
        </p:nvSpPr>
        <p:spPr>
          <a:xfrm>
            <a:off x="7639050" y="2019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CBAE6A8-C7E9-4FE8-8E79-6335F5450EF9}"/>
              </a:ext>
            </a:extLst>
          </p:cNvPr>
          <p:cNvSpPr>
            <a:spLocks noGrp="1"/>
          </p:cNvSpPr>
          <p:nvPr/>
        </p:nvSpPr>
        <p:spPr>
          <a:xfrm>
            <a:off x="2419350" y="37338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B06F61">
              <a:alpha val="12000"/>
            </a:srgbClr>
          </a:solidFill>
          <a:ln w="9525">
            <a:solidFill>
              <a:srgbClr val="B06F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544B2E-FA13-41DA-8C84-9844E2B940D9}"/>
              </a:ext>
            </a:extLst>
          </p:cNvPr>
          <p:cNvSpPr>
            <a:spLocks noGrp="1"/>
          </p:cNvSpPr>
          <p:nvPr/>
        </p:nvSpPr>
        <p:spPr>
          <a:xfrm>
            <a:off x="2419350" y="38576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ERROR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EFC41F-95EC-4E9C-8961-B98D0FE6AC30}"/>
              </a:ext>
            </a:extLst>
          </p:cNvPr>
          <p:cNvSpPr>
            <a:spLocks noGrp="1"/>
          </p:cNvSpPr>
          <p:nvPr/>
        </p:nvSpPr>
        <p:spPr>
          <a:xfrm>
            <a:off x="2514600" y="41719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显示可理解提示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0C45C21-23BF-491E-B992-F660BCF94C0C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B06F61">
              <a:alpha val="12000"/>
            </a:srgbClr>
          </a:solidFill>
          <a:ln w="9525">
            <a:solidFill>
              <a:srgbClr val="B06F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483424-0778-4B09-BAD0-4EFC0564B0F6}"/>
              </a:ext>
            </a:extLst>
          </p:cNvPr>
          <p:cNvSpPr>
            <a:spLocks noGrp="1"/>
          </p:cNvSpPr>
          <p:nvPr/>
        </p:nvSpPr>
        <p:spPr>
          <a:xfrm>
            <a:off x="5029200" y="38576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DF21DD-96D3-4CFA-A1F4-7D17DEB7DDD8}"/>
              </a:ext>
            </a:extLst>
          </p:cNvPr>
          <p:cNvSpPr>
            <a:spLocks noGrp="1"/>
          </p:cNvSpPr>
          <p:nvPr/>
        </p:nvSpPr>
        <p:spPr>
          <a:xfrm>
            <a:off x="5124450" y="41719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收藏状态回滚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20292A6-51D3-4044-805A-B29C03D18C31}"/>
              </a:ext>
            </a:extLst>
          </p:cNvPr>
          <p:cNvSpPr>
            <a:spLocks noGrp="1"/>
          </p:cNvSpPr>
          <p:nvPr/>
        </p:nvSpPr>
        <p:spPr>
          <a:xfrm>
            <a:off x="7639050" y="373380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B06F61">
              <a:alpha val="12000"/>
            </a:srgbClr>
          </a:solidFill>
          <a:ln w="9525">
            <a:solidFill>
              <a:srgbClr val="B06F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CFAD72-6033-4AEF-9038-416CD86CF7B3}"/>
              </a:ext>
            </a:extLst>
          </p:cNvPr>
          <p:cNvSpPr>
            <a:spLocks noGrp="1"/>
          </p:cNvSpPr>
          <p:nvPr/>
        </p:nvSpPr>
        <p:spPr>
          <a:xfrm>
            <a:off x="7639050" y="38576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RETRY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F7A699-F280-4FFB-ABF5-2D0083BD5A93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保留数据后重试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2E84B8B-0138-4743-A56A-C42AED2AA0BC}"/>
              </a:ext>
            </a:extLst>
          </p:cNvPr>
          <p:cNvSpPr>
            <a:spLocks noGrp="1"/>
          </p:cNvSpPr>
          <p:nvPr/>
        </p:nvSpPr>
        <p:spPr>
          <a:xfrm>
            <a:off x="9906000" y="1590675"/>
            <a:ext cx="1676400" cy="3009900"/>
          </a:xfrm>
          <a:prstGeom prst="roundRect">
            <a:avLst>
              <a:gd name="adj" fmla="val 13636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B625066-F485-4B27-AD05-DB4B84E60F0A}"/>
              </a:ext>
            </a:extLst>
          </p:cNvPr>
          <p:cNvSpPr>
            <a:spLocks noGrp="1"/>
          </p:cNvSpPr>
          <p:nvPr/>
        </p:nvSpPr>
        <p:spPr>
          <a:xfrm>
            <a:off x="9906000" y="1524000"/>
            <a:ext cx="1676400" cy="3009900"/>
          </a:xfrm>
          <a:prstGeom prst="roundRect">
            <a:avLst>
              <a:gd name="adj" fmla="val 13636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E7E6A8-40CF-4EE6-A099-0DB0DC8AF1FA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隐私边界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8675E2F-CDA4-4609-B4A1-CC038EC6E989}"/>
              </a:ext>
            </a:extLst>
          </p:cNvPr>
          <p:cNvSpPr>
            <a:spLocks noGrp="1"/>
          </p:cNvSpPr>
          <p:nvPr/>
        </p:nvSpPr>
        <p:spPr>
          <a:xfrm>
            <a:off x="10115550" y="2266950"/>
            <a:ext cx="12573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默认仅在内存</a:t>
            </a:r>
          </a:p>
          <a:p>
            <a:endParaRPr sz="1275" b="0">
              <a:solidFill>
                <a:srgbClr val="5D667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主动保存后</a:t>
            </a:r>
          </a:p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报告才持久化</a:t>
            </a:r>
          </a:p>
          <a:p>
            <a:endParaRPr sz="1275" b="0">
              <a:solidFill>
                <a:srgbClr val="5D667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API Key</a:t>
            </a:r>
          </a:p>
          <a:p>
            <a:pPr algn="ctr">
              <a:def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退出应用失效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747609B-5A18-4211-8899-9C794603A848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1181100"/>
          </a:xfrm>
          <a:prstGeom prst="roundRect">
            <a:avLst>
              <a:gd name="adj" fmla="val 12903"/>
            </a:avLst>
          </a:prstGeom>
          <a:solidFill>
            <a:srgbClr val="FFFFFF">
              <a:alpha val="84000"/>
            </a:srgbClr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AC46C3-CA98-4B47-BD1D-D26BBD49DE18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06F61"/>
                </a:solidFill>
                <a:latin typeface="Microsoft YaHei"/>
                <a:ea typeface="Microsoft YaHei"/>
                <a:cs typeface="Microsoft YaHei"/>
              </a:rPr>
              <a:t>禁止写入日志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C0E1C5-D22D-414D-87BD-AC087ED961E6}"/>
              </a:ext>
            </a:extLst>
          </p:cNvPr>
          <p:cNvSpPr>
            <a:spLocks noGrp="1"/>
          </p:cNvSpPr>
          <p:nvPr/>
        </p:nvSpPr>
        <p:spPr>
          <a:xfrm>
            <a:off x="2724150" y="5181600"/>
            <a:ext cx="847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原始日志  ·  Token  ·  Authorization  ·  图片 URI  ·  本机路径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CED1BB7-2094-4321-97EE-C6CC31CC6237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1036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AppResult&lt;T&gt; / AppError 统一跨层错误；加载状态防止重复保存、收藏和删除。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1D4BE1-C761-4965-B701-65BE13E068A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9DDCFB5-708F-4A67-AE81-64DF01E9D6EF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409044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7ACAA854-2C4B-4E30-9A56-D06D765B77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开发报错诊断助手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2DB140-A244-428D-94BA-8CB09971234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构建与测试提供实际证据</a:t>
            </a:r>
            <a:endParaRPr sz="2850" b="1" dirty="0">
              <a:solidFill>
                <a:srgbClr val="171A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BD6F85-79A6-48CD-AA5A-1DA482C131EE}"/>
              </a:ext>
            </a:extLst>
          </p:cNvPr>
          <p:cNvSpPr>
            <a:spLocks noGrp="1"/>
          </p:cNvSpPr>
          <p:nvPr/>
        </p:nvSpPr>
        <p:spPr>
          <a:xfrm>
            <a:off x="11106150" y="4000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07E993-E8A2-45C2-AFA5-49A5813B58BE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67E2C2-F99E-4C33-8B77-2B924A83AF4B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5E72E5-37E2-44F2-9B29-110FB792F074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ctr">
              <a:defRPr sz="36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330 / 330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42A6F4-C7B9-4739-B4B9-4581CF101B32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Local Test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EE9473-2445-488A-8011-69CDABA7C3E7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通过，失败 0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693468D-8965-49D7-BD29-92E9FF14347F}"/>
              </a:ext>
            </a:extLst>
          </p:cNvPr>
          <p:cNvSpPr>
            <a:spLocks noGrp="1"/>
          </p:cNvSpPr>
          <p:nvPr/>
        </p:nvSpPr>
        <p:spPr>
          <a:xfrm>
            <a:off x="4267200" y="1552575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4666C8-3E5C-440E-BFFA-05DAAA36AB06}"/>
              </a:ext>
            </a:extLst>
          </p:cNvPr>
          <p:cNvSpPr>
            <a:spLocks noGrp="1"/>
          </p:cNvSpPr>
          <p:nvPr/>
        </p:nvSpPr>
        <p:spPr>
          <a:xfrm>
            <a:off x="4267200" y="1485900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91A5F4-7295-4531-9899-C40AB8265E48}"/>
              </a:ext>
            </a:extLst>
          </p:cNvPr>
          <p:cNvSpPr>
            <a:spLocks noGrp="1"/>
          </p:cNvSpPr>
          <p:nvPr/>
        </p:nvSpPr>
        <p:spPr>
          <a:xfrm>
            <a:off x="4495800" y="17716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1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3E59C1-2BF6-4468-8943-EB999FEE2F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SUCCESSFUL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1FF24B-DAC7-44F4-A3A1-CBF8A18924D3}"/>
              </a:ext>
            </a:extLst>
          </p:cNvPr>
          <p:cNvSpPr>
            <a:spLocks noGrp="1"/>
          </p:cNvSpPr>
          <p:nvPr/>
        </p:nvSpPr>
        <p:spPr>
          <a:xfrm>
            <a:off x="4495800" y="26860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Debug HAP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E54A02F-8008-4B82-9D35-C6865DCFD782}"/>
              </a:ext>
            </a:extLst>
          </p:cNvPr>
          <p:cNvSpPr>
            <a:spLocks noGrp="1"/>
          </p:cNvSpPr>
          <p:nvPr/>
        </p:nvSpPr>
        <p:spPr>
          <a:xfrm>
            <a:off x="7924800" y="1552575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973471-A676-4513-8671-6BFE60F56F14}"/>
              </a:ext>
            </a:extLst>
          </p:cNvPr>
          <p:cNvSpPr>
            <a:spLocks noGrp="1"/>
          </p:cNvSpPr>
          <p:nvPr/>
        </p:nvSpPr>
        <p:spPr>
          <a:xfrm>
            <a:off x="7924800" y="1485900"/>
            <a:ext cx="3352800" cy="1581150"/>
          </a:xfrm>
          <a:prstGeom prst="roundRect">
            <a:avLst>
              <a:gd name="adj" fmla="val 14458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189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F790C4-BF98-4C25-85C8-3362D188ED61}"/>
              </a:ext>
            </a:extLst>
          </p:cNvPr>
          <p:cNvSpPr>
            <a:spLocks noGrp="1"/>
          </p:cNvSpPr>
          <p:nvPr/>
        </p:nvSpPr>
        <p:spPr>
          <a:xfrm>
            <a:off x="8153400" y="17716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ctr">
              <a:defRPr sz="36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7189A6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5CD10C-4035-41C2-BFE1-6B8A5B3D0E06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endParaRPr sz="1500" b="1" dirty="0">
              <a:solidFill>
                <a:srgbClr val="171A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08E06E-8F00-4C4C-A7E2-B914D7F6217E}"/>
              </a:ext>
            </a:extLst>
          </p:cNvPr>
          <p:cNvSpPr>
            <a:spLocks noGrp="1"/>
          </p:cNvSpPr>
          <p:nvPr/>
        </p:nvSpPr>
        <p:spPr>
          <a:xfrm>
            <a:off x="8153400" y="26860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测试通过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1BFF131-A965-4D21-A340-EFEC632801BD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5391150" cy="2571750"/>
          </a:xfrm>
          <a:prstGeom prst="roundRect">
            <a:avLst>
              <a:gd name="adj" fmla="val 8889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0903469-B7AD-46F3-A1D6-106A534BC902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5391150" cy="2571750"/>
          </a:xfrm>
          <a:prstGeom prst="roundRect">
            <a:avLst>
              <a:gd name="adj" fmla="val 8889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A7B2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8C27BE-AF76-4999-9544-9D4F1C973683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测试覆盖重点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1A91EEA-398D-489B-8298-D829E68DA336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85725" cy="85725"/>
          </a:xfrm>
          <a:prstGeom prst="ellipse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47CB3E-4955-4D91-A2F2-ADF4AA4A00A1}"/>
              </a:ext>
            </a:extLst>
          </p:cNvPr>
          <p:cNvSpPr>
            <a:spLocks noGrp="1"/>
          </p:cNvSpPr>
          <p:nvPr/>
        </p:nvSpPr>
        <p:spPr>
          <a:xfrm>
            <a:off x="1085850" y="4095750"/>
            <a:ext cx="4457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输入边界与 Unicode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5F33E68-73FA-41BB-9B4A-36AEFA601404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85725" cy="85725"/>
          </a:xfrm>
          <a:prstGeom prst="ellipse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08AAD8-D6F8-4195-839B-A825A3909F7F}"/>
              </a:ext>
            </a:extLst>
          </p:cNvPr>
          <p:cNvSpPr>
            <a:spLocks noGrp="1"/>
          </p:cNvSpPr>
          <p:nvPr/>
        </p:nvSpPr>
        <p:spPr>
          <a:xfrm>
            <a:off x="1085850" y="4438650"/>
            <a:ext cx="4457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规则优先级、多命中与兜底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82D380B-2705-447C-8FE6-8F715F5328C1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85725" cy="85725"/>
          </a:xfrm>
          <a:prstGeom prst="ellipse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5248CE-7EB8-4E2F-8521-2C9A203CCA16}"/>
              </a:ext>
            </a:extLst>
          </p:cNvPr>
          <p:cNvSpPr>
            <a:spLocks noGrp="1"/>
          </p:cNvSpPr>
          <p:nvPr/>
        </p:nvSpPr>
        <p:spPr>
          <a:xfrm>
            <a:off x="1085850" y="4781550"/>
            <a:ext cx="4457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保存去重、200 条容量策略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88689C6-A3E6-4034-80C4-6E51A4DA4A57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85725" cy="85725"/>
          </a:xfrm>
          <a:prstGeom prst="ellipse">
            <a:avLst/>
          </a:prstGeom>
          <a:solidFill>
            <a:srgbClr val="B06F6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DB1917-F937-4993-92B5-8F04498A5A9E}"/>
              </a:ext>
            </a:extLst>
          </p:cNvPr>
          <p:cNvSpPr>
            <a:spLocks noGrp="1"/>
          </p:cNvSpPr>
          <p:nvPr/>
        </p:nvSpPr>
        <p:spPr>
          <a:xfrm>
            <a:off x="1085850" y="5124450"/>
            <a:ext cx="4457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收藏回滚、删除与损坏数据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58EF8B2-94C9-403F-B4F1-C385040DFF4F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85725" cy="85725"/>
          </a:xfrm>
          <a:prstGeom prst="ellipse">
            <a:avLst/>
          </a:prstGeom>
          <a:solidFill>
            <a:srgbClr val="A7B2B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BF0FED-CB36-4F3C-B6A0-29579E9F9486}"/>
              </a:ext>
            </a:extLst>
          </p:cNvPr>
          <p:cNvSpPr>
            <a:spLocks noGrp="1"/>
          </p:cNvSpPr>
          <p:nvPr/>
        </p:nvSpPr>
        <p:spPr>
          <a:xfrm>
            <a:off x="1085850" y="5467350"/>
            <a:ext cx="4457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主题恢复与后端异常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2CEBAE7-CD2D-4E23-B8F9-4B24D91BECF6}"/>
              </a:ext>
            </a:extLst>
          </p:cNvPr>
          <p:cNvSpPr>
            <a:spLocks noGrp="1"/>
          </p:cNvSpPr>
          <p:nvPr/>
        </p:nvSpPr>
        <p:spPr>
          <a:xfrm>
            <a:off x="6229350" y="3457575"/>
            <a:ext cx="5353050" cy="2571750"/>
          </a:xfrm>
          <a:prstGeom prst="roundRect">
            <a:avLst>
              <a:gd name="adj" fmla="val 8889"/>
            </a:avLst>
          </a:prstGeom>
          <a:solidFill>
            <a:srgbClr val="7189A6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6E18964-BB26-4C04-990B-D8AF38E1DAB3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5353050" cy="2571750"/>
          </a:xfrm>
          <a:prstGeom prst="roundRect">
            <a:avLst>
              <a:gd name="adj" fmla="val 8889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7F9B8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9099204-1D06-4266-BFA1-F35C6226F464}"/>
              </a:ext>
            </a:extLst>
          </p:cNvPr>
          <p:cNvSpPr>
            <a:spLocks noGrp="1"/>
          </p:cNvSpPr>
          <p:nvPr/>
        </p:nvSpPr>
        <p:spPr>
          <a:xfrm>
            <a:off x="6477000" y="3638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覆盖率作为补充证据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C56BA82-33A3-4356-99D2-9B54A3EE6AA3}"/>
              </a:ext>
            </a:extLst>
          </p:cNvPr>
          <p:cNvSpPr>
            <a:spLocks noGrp="1"/>
          </p:cNvSpPr>
          <p:nvPr/>
        </p:nvSpPr>
        <p:spPr>
          <a:xfrm>
            <a:off x="6477000" y="4171950"/>
            <a:ext cx="1409700" cy="1123950"/>
          </a:xfrm>
          <a:prstGeom prst="roundRect">
            <a:avLst>
              <a:gd name="adj" fmla="val 13559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D542F1-0A0B-486F-87AC-13773EDED1A8}"/>
              </a:ext>
            </a:extLst>
          </p:cNvPr>
          <p:cNvSpPr>
            <a:spLocks noGrp="1"/>
          </p:cNvSpPr>
          <p:nvPr/>
        </p:nvSpPr>
        <p:spPr>
          <a:xfrm>
            <a:off x="6477000" y="4362450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65.69%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98B5EC2-20D1-4061-A392-B517507904EE}"/>
              </a:ext>
            </a:extLst>
          </p:cNvPr>
          <p:cNvSpPr>
            <a:spLocks noGrp="1"/>
          </p:cNvSpPr>
          <p:nvPr/>
        </p:nvSpPr>
        <p:spPr>
          <a:xfrm>
            <a:off x="6477000" y="489585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21C9F3D-5D5F-4A7F-895B-3963997E373A}"/>
              </a:ext>
            </a:extLst>
          </p:cNvPr>
          <p:cNvSpPr>
            <a:spLocks noGrp="1"/>
          </p:cNvSpPr>
          <p:nvPr/>
        </p:nvSpPr>
        <p:spPr>
          <a:xfrm>
            <a:off x="8077200" y="4171950"/>
            <a:ext cx="1409700" cy="1123950"/>
          </a:xfrm>
          <a:prstGeom prst="roundRect">
            <a:avLst>
              <a:gd name="adj" fmla="val 13559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647BFA-D9D0-4381-B60D-E034C85112C7}"/>
              </a:ext>
            </a:extLst>
          </p:cNvPr>
          <p:cNvSpPr>
            <a:spLocks noGrp="1"/>
          </p:cNvSpPr>
          <p:nvPr/>
        </p:nvSpPr>
        <p:spPr>
          <a:xfrm>
            <a:off x="8077200" y="4362450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58.11%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EF24E7-5F27-4061-A10C-50D8A3796CF3}"/>
              </a:ext>
            </a:extLst>
          </p:cNvPr>
          <p:cNvSpPr>
            <a:spLocks noGrp="1"/>
          </p:cNvSpPr>
          <p:nvPr/>
        </p:nvSpPr>
        <p:spPr>
          <a:xfrm>
            <a:off x="8077200" y="489585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函数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7A2A726-26FF-4645-B6E6-60CA27D5FD13}"/>
              </a:ext>
            </a:extLst>
          </p:cNvPr>
          <p:cNvSpPr>
            <a:spLocks noGrp="1"/>
          </p:cNvSpPr>
          <p:nvPr/>
        </p:nvSpPr>
        <p:spPr>
          <a:xfrm>
            <a:off x="9677400" y="4171950"/>
            <a:ext cx="1409700" cy="1123950"/>
          </a:xfrm>
          <a:prstGeom prst="roundRect">
            <a:avLst>
              <a:gd name="adj" fmla="val 13559"/>
            </a:avLst>
          </a:prstGeom>
          <a:solidFill>
            <a:srgbClr val="7F9B86">
              <a:alpha val="13000"/>
            </a:srgbClr>
          </a:solidFill>
          <a:ln w="9525">
            <a:solidFill>
              <a:srgbClr val="7F9B8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59167F-71DB-4A6E-957C-27B757D2AA0C}"/>
              </a:ext>
            </a:extLst>
          </p:cNvPr>
          <p:cNvSpPr>
            <a:spLocks noGrp="1"/>
          </p:cNvSpPr>
          <p:nvPr/>
        </p:nvSpPr>
        <p:spPr>
          <a:xfrm>
            <a:off x="9677400" y="4362450"/>
            <a:ext cx="1409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F9B86"/>
                </a:solidFill>
                <a:latin typeface="Microsoft YaHei"/>
                <a:ea typeface="Microsoft YaHei"/>
                <a:cs typeface="Microsoft YaHei"/>
              </a:rPr>
              <a:t>59.12%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EE31E44-4A1C-4748-B6F8-E1B5300CC22C}"/>
              </a:ext>
            </a:extLst>
          </p:cNvPr>
          <p:cNvSpPr>
            <a:spLocks noGrp="1"/>
          </p:cNvSpPr>
          <p:nvPr/>
        </p:nvSpPr>
        <p:spPr>
          <a:xfrm>
            <a:off x="9677400" y="489585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分支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986B845-130F-486C-A5BC-A5EF5EA480F6}"/>
              </a:ext>
            </a:extLst>
          </p:cNvPr>
          <p:cNvSpPr>
            <a:spLocks noGrp="1"/>
          </p:cNvSpPr>
          <p:nvPr/>
        </p:nvSpPr>
        <p:spPr>
          <a:xfrm>
            <a:off x="6477000" y="55245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重点验证规则、数据一致性与异常路径，而不只验证页面能否打开。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1F97BAA-E813-495A-BE1C-91C090D6CF9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HarmonyOS · ArkTS · 本地优先诊断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565AC0E-7704-4E88-BA5F-7462366388DF}"/>
              </a:ext>
            </a:extLst>
          </p:cNvPr>
          <p:cNvSpPr>
            <a:spLocks noGrp="1"/>
          </p:cNvSpPr>
          <p:nvPr/>
        </p:nvSpPr>
        <p:spPr>
          <a:xfrm>
            <a:off x="10439400" y="6496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524506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椭圆 46">
            <a:extLst>
              <a:ext uri="{FF2B5EF4-FFF2-40B4-BE49-F238E27FC236}">
                <a16:creationId xmlns:a16="http://schemas.microsoft.com/office/drawing/2014/main" id="{AF0F98DB-7545-4CE1-8497-5769351F5E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143500" cy="3429000"/>
          </a:xfrm>
          <a:prstGeom prst="ellipse">
            <a:avLst/>
          </a:prstGeom>
          <a:gradFill>
            <a:gsLst>
              <a:gs pos="0">
                <a:srgbClr val="7189A6">
                  <a:alpha val="38000"/>
                </a:srgbClr>
              </a:gs>
              <a:gs pos="54000">
                <a:srgbClr val="7189A6">
                  <a:alpha val="12000"/>
                </a:srgbClr>
              </a:gs>
              <a:gs pos="100000">
                <a:srgbClr val="7189A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153992E-A6BA-4081-8E46-5972C08804A2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4381500" cy="3429000"/>
          </a:xfrm>
          <a:prstGeom prst="ellipse">
            <a:avLst/>
          </a:prstGeom>
          <a:gradFill>
            <a:gsLst>
              <a:gs pos="0">
                <a:srgbClr val="7F9B86">
                  <a:alpha val="38000"/>
                </a:srgbClr>
              </a:gs>
              <a:gs pos="54000">
                <a:srgbClr val="7F9B86">
                  <a:alpha val="12000"/>
                </a:srgbClr>
              </a:gs>
              <a:gs pos="100000">
                <a:srgbClr val="7F9B8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23F33-B6D6-4713-A7EF-91DB7F3ACE6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590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项目成果与现场演示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BD51F1-2491-458F-9A2C-AE64E9779C3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C5CD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5CDD6"/>
                </a:solidFill>
                <a:latin typeface="Microsoft YaHei"/>
                <a:ea typeface="Microsoft YaHei"/>
                <a:cs typeface="Microsoft YaHei"/>
              </a:rPr>
              <a:t>核心闭环完整、可离线、可解释、可测试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A692DD4-8FA6-4954-B907-62F8982BC0B6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66700" cy="266700"/>
          </a:xfrm>
          <a:prstGeom prst="ellipse">
            <a:avLst/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00B811-78DF-4464-A2A3-286FBADCCBC4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6FBFA8-9DD8-4D7C-A6AA-8AA324FE87A6}"/>
              </a:ext>
            </a:extLst>
          </p:cNvPr>
          <p:cNvSpPr>
            <a:spLocks noGrp="1"/>
          </p:cNvSpPr>
          <p:nvPr/>
        </p:nvSpPr>
        <p:spPr>
          <a:xfrm>
            <a:off x="1181100" y="18288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输入 → 诊断 → 报告的完整产品主线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35CAE06-3A85-4800-9144-6C0FFC6BE06F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66700" cy="266700"/>
          </a:xfrm>
          <a:prstGeom prst="ellipse">
            <a:avLst/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24594A-6C99-4DF6-B8E1-54C473A4AD1C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EDC2E-35A1-4C35-8BF4-5385C6A233E8}"/>
              </a:ext>
            </a:extLst>
          </p:cNvPr>
          <p:cNvSpPr>
            <a:spLocks noGrp="1"/>
          </p:cNvSpPr>
          <p:nvPr/>
        </p:nvSpPr>
        <p:spPr>
          <a:xfrm>
            <a:off x="1181100" y="2457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断网仍可运行的本地规则基线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A68AB1A-74C3-4356-99A6-6E371C56797B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266700" cy="266700"/>
          </a:xfrm>
          <a:prstGeom prst="ellipse">
            <a:avLst/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7D1DD4-77B1-44D6-BFEC-5FD83FA09EED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FF15AF-2D91-462D-9F33-D364E80ADD75}"/>
              </a:ext>
            </a:extLst>
          </p:cNvPr>
          <p:cNvSpPr>
            <a:spLocks noGrp="1"/>
          </p:cNvSpPr>
          <p:nvPr/>
        </p:nvSpPr>
        <p:spPr>
          <a:xfrm>
            <a:off x="1181100" y="30861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保存、历史、收藏、删除与清空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3B3241A-5FDC-4C5A-8FA4-83705D0F7D0B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66700" cy="266700"/>
          </a:xfrm>
          <a:prstGeom prst="ellipse">
            <a:avLst/>
          </a:prstGeom>
          <a:solidFill>
            <a:srgbClr val="7F9B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6406DF-F9BA-42BC-A93D-8C1AA3B30EE4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440197-D12D-4118-9265-EECE69D5716E}"/>
              </a:ext>
            </a:extLst>
          </p:cNvPr>
          <p:cNvSpPr>
            <a:spLocks noGrp="1"/>
          </p:cNvSpPr>
          <p:nvPr/>
        </p:nvSpPr>
        <p:spPr>
          <a:xfrm>
            <a:off x="1181100" y="3714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分层架构、统一错误与隐私保护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1CA35DE-3074-42CB-AAC8-F59031431B90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266700" cy="266700"/>
          </a:xfrm>
          <a:prstGeom prst="ellipse">
            <a:avLst/>
          </a:prstGeom>
          <a:solidFill>
            <a:srgbClr val="7189A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C07283-BED8-4A53-9DD9-0EFA29FCC6A4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56FE56-AE5B-4C07-8953-C66402337EF3}"/>
              </a:ext>
            </a:extLst>
          </p:cNvPr>
          <p:cNvSpPr>
            <a:spLocks noGrp="1"/>
          </p:cNvSpPr>
          <p:nvPr/>
        </p:nvSpPr>
        <p:spPr>
          <a:xfrm>
            <a:off x="1181100" y="43434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AI / Agent / Skill、多窗与传感器增强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D476557-58B2-455B-B54B-AC2A2A0DAD0E}"/>
              </a:ext>
            </a:extLst>
          </p:cNvPr>
          <p:cNvSpPr>
            <a:spLocks noGrp="1"/>
          </p:cNvSpPr>
          <p:nvPr/>
        </p:nvSpPr>
        <p:spPr>
          <a:xfrm>
            <a:off x="6724649" y="1619250"/>
            <a:ext cx="4972050" cy="3619500"/>
          </a:xfrm>
          <a:prstGeom prst="roundRect">
            <a:avLst>
              <a:gd name="adj" fmla="val 6316"/>
            </a:avLst>
          </a:prstGeom>
          <a:solidFill>
            <a:srgbClr val="000000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59EE520-4583-4BE6-8D77-31AA214A054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3F5F8"/>
                </a:solidFill>
                <a:latin typeface="Microsoft YaHei"/>
                <a:ea typeface="Microsoft YaHei"/>
                <a:cs typeface="Microsoft YaHei"/>
              </a:rPr>
              <a:t>让每一条报错都有可验证的下一步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48DF38-1FF9-43BE-BF1D-F1EF7FEF1E16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723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909A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09AA6"/>
                </a:solidFill>
                <a:latin typeface="Microsoft YaHei"/>
                <a:ea typeface="Microsoft YaHei"/>
                <a:cs typeface="Microsoft YaHei"/>
              </a:rPr>
              <a:t>OCR、Form、NLP、Data Augmentation 待设备闭环后再纳入成果。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24C917-B05F-4AB3-B432-1931F172D4CE}"/>
              </a:ext>
            </a:extLst>
          </p:cNvPr>
          <p:cNvSpPr>
            <a:spLocks noGrp="1"/>
          </p:cNvSpPr>
          <p:nvPr/>
        </p:nvSpPr>
        <p:spPr>
          <a:xfrm>
            <a:off x="7410450" y="2952750"/>
            <a:ext cx="3109504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100" b="1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 dirty="0">
                <a:solidFill>
                  <a:srgbClr val="A7B2BE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906854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78545" dir="4557825">
              <a:srgbClr val="7189A6">
                <a:alpha val="15000"/>
              </a:srgbClr>
            </a:outerShdw>
          </a:effectLst>
        </a:effectStyle>
        <a:effectStyle>
          <a:effectLst>
            <a:outerShdw blurRad="228600" dist="85725" dir="5400000">
              <a:srgbClr val="7189A6">
                <a:alpha val="28000"/>
              </a:srgbClr>
            </a:outerShdw>
          </a:effectLst>
        </a:effectStyle>
        <a:effectStyle>
          <a:effectLst>
            <a:outerShdw blurRad="209550" dist="76200" dir="5400000">
              <a:srgbClr val="7189A6">
                <a:alpha val="22000"/>
              </a:srgbClr>
            </a:outerShdw>
          </a:effectLst>
        </a:effectStyle>
        <a:effectStyle>
          <a:effectLst>
            <a:outerShdw blurRad="266700" dist="114300" dir="5400000">
              <a:srgbClr val="7189A6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78545" dir="4557825">
              <a:srgbClr val="7189A6">
                <a:alpha val="15000"/>
              </a:srgbClr>
            </a:outerShdw>
          </a:effectLst>
        </a:effectStyle>
        <a:effectStyle>
          <a:effectLst>
            <a:outerShdw blurRad="228600" dist="85725" dir="5400000">
              <a:srgbClr val="7189A6">
                <a:alpha val="28000"/>
              </a:srgbClr>
            </a:outerShdw>
          </a:effectLst>
        </a:effectStyle>
        <a:effectStyle>
          <a:effectLst>
            <a:outerShdw blurRad="209550" dist="76200" dir="5400000">
              <a:srgbClr val="7189A6">
                <a:alpha val="22000"/>
              </a:srgbClr>
            </a:outerShdw>
          </a:effectLst>
        </a:effectStyle>
        <a:effectStyle>
          <a:effectLst>
            <a:outerShdw blurRad="266700" dist="114300" dir="5400000">
              <a:srgbClr val="7189A6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1647</Words>
  <Application>Microsoft Office PowerPoint</Application>
  <DocSecurity>0</DocSecurity>
  <PresentationFormat>宽屏</PresentationFormat>
  <Paragraphs>362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HarmonyOS Sans SC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 sun</cp:lastModifiedBy>
  <cp:revision>8</cp:revision>
  <dcterms:created xsi:type="dcterms:W3CDTF">2026-07-16T09:42:04Z</dcterms:created>
  <dcterms:modified xsi:type="dcterms:W3CDTF">2026-07-17T02:48:45Z</dcterms:modified>
</cp:coreProperties>
</file>